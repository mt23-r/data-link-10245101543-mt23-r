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f1f34352e442b9" /><Relationship Type="http://schemas.openxmlformats.org/officeDocument/2006/relationships/extended-properties" Target="/docProps/app.xml" Id="R408a880e3aff4836" /><Relationship Type="http://schemas.openxmlformats.org/officeDocument/2006/relationships/officeDocument" Target="/ppt/presentation.xml" Id="R2d91b2b429f243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29e1ec4694fe0"/>
  </p:sldMasterIdLst>
  <p:notesMasterIdLst>
    <p:notesMasterId xmlns:r="http://schemas.openxmlformats.org/officeDocument/2006/relationships" r:id="R9e4cb6103e6a4fe1"/>
  </p:notesMasterIdLst>
  <p:sldIdLst>
    <p:sldId xmlns:r="http://schemas.openxmlformats.org/officeDocument/2006/relationships" id="256" r:id="R8a01abb9ce724dbb"/>
    <p:sldId xmlns:r="http://schemas.openxmlformats.org/officeDocument/2006/relationships" id="257" r:id="R0585a81eb47442dc"/>
    <p:sldId xmlns:r="http://schemas.openxmlformats.org/officeDocument/2006/relationships" id="258" r:id="Raefe63636c63442a"/>
    <p:sldId xmlns:r="http://schemas.openxmlformats.org/officeDocument/2006/relationships" id="259" r:id="Rd61cb193331243f1"/>
    <p:sldId xmlns:r="http://schemas.openxmlformats.org/officeDocument/2006/relationships" id="260" r:id="Rd82cc1aa8ad9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0fa1710f214177" /><Relationship Type="http://schemas.openxmlformats.org/officeDocument/2006/relationships/slideMaster" Target="/ppt/slideMasters/slideMaster1.xml" Id="R4e429e1ec4694fe0" /><Relationship Type="http://schemas.openxmlformats.org/officeDocument/2006/relationships/notesMaster" Target="/ppt/notesMasters/notesMaster1.xml" Id="R9e4cb6103e6a4fe1" /><Relationship Type="http://schemas.openxmlformats.org/officeDocument/2006/relationships/presProps" Target="/ppt/presProps.xml" Id="R8773db51c45e4525" /><Relationship Type="http://schemas.openxmlformats.org/officeDocument/2006/relationships/tableStyles" Target="/ppt/tableStyles.xml" Id="R8066f3d7bb484f91" /><Relationship Type="http://schemas.openxmlformats.org/officeDocument/2006/relationships/slide" Target="/ppt/slides/slide1.xml" Id="R8a01abb9ce724dbb" /><Relationship Type="http://schemas.openxmlformats.org/officeDocument/2006/relationships/slide" Target="/ppt/slides/slide2.xml" Id="R0585a81eb47442dc" /><Relationship Type="http://schemas.openxmlformats.org/officeDocument/2006/relationships/slide" Target="/ppt/slides/slide3.xml" Id="Raefe63636c63442a" /><Relationship Type="http://schemas.openxmlformats.org/officeDocument/2006/relationships/slide" Target="/ppt/slides/slide4.xml" Id="Rd61cb193331243f1" /><Relationship Type="http://schemas.openxmlformats.org/officeDocument/2006/relationships/slide" Target="/ppt/slides/slide5.xml" Id="Rd82cc1aa8ad9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9e4498eed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1cf43fe4e4a9f" /><Relationship Type="http://schemas.openxmlformats.org/officeDocument/2006/relationships/notesMaster" Target="/ppt/notesMasters/notesMaster1.xml" Id="Rfe38b3bd11f2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562badd4b84ddd" /><Relationship Type="http://schemas.openxmlformats.org/officeDocument/2006/relationships/notesMaster" Target="/ppt/notesMasters/notesMaster1.xml" Id="Rff86820372ba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ac0b61cb4c5b" /><Relationship Type="http://schemas.openxmlformats.org/officeDocument/2006/relationships/notesMaster" Target="/ppt/notesMasters/notesMaster1.xml" Id="R844fad2af124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889f176af43c3" /><Relationship Type="http://schemas.openxmlformats.org/officeDocument/2006/relationships/notesMaster" Target="/ppt/notesMasters/notesMaster1.xml" Id="R4712119faa48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7b9cefdaa3455a" /><Relationship Type="http://schemas.openxmlformats.org/officeDocument/2006/relationships/notesMaster" Target="/ppt/notesMasters/notesMaster1.xml" Id="R72fdd8c3366746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student_package/docs/M1_system_flow.md</a:t>
            </a:r>
          </a:p>
          <a:p xmlns:a="http://schemas.openxmlformats.org/drawingml/2006/main">
            <a:r>
              <a:t>- student_package/schema/teaching_message_spec.md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student_package/schema/teaching_message_spec.md</a:t>
            </a:r>
          </a:p>
          <a:p xmlns:a="http://schemas.openxmlformats.org/drawingml/2006/main">
            <a:r>
              <a:t>- student_package/output/roundtrip_report.csv</a:t>
            </a:r>
          </a:p>
          <a:p xmlns:a="http://schemas.openxmlformats.org/drawingml/2006/main">
            <a:r>
              <a:t>- student_package/output/decoded_multitime.csv</a:t>
            </a:r>
          </a:p>
          <a:p xmlns:a="http://schemas.openxmlformats.org/drawingml/2006/main">
            <a:r>
              <a:t>- student_package/output/validation_log.csv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student_package/schema/teaching_message_spec.md</a:t>
            </a:r>
          </a:p>
          <a:p xmlns:a="http://schemas.openxmlformats.org/drawingml/2006/main">
            <a:r>
              <a:t>- student_package/output/states.db</a:t>
            </a:r>
          </a:p>
          <a:p xmlns:a="http://schemas.openxmlformats.org/drawingml/2006/main">
            <a:r>
              <a:t>- student_package/output/sqlite_query_result.csv</a:t>
            </a:r>
          </a:p>
          <a:p xmlns:a="http://schemas.openxmlformats.org/drawingml/2006/main">
            <a:r>
              <a:t>- student_package/schema/optional_db_schema.sql</a:t>
            </a:r>
          </a:p>
          <a:p xmlns:a="http://schemas.openxmlformats.org/drawingml/2006/main">
            <a:r>
              <a:t>- student_package/docs/M5_result_note.md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student_package/output/track_table.csv</a:t>
            </a:r>
          </a:p>
          <a:p xmlns:a="http://schemas.openxmlformats.org/drawingml/2006/main">
            <a:r>
              <a:t>- student_package/output/current_situation.csv</a:t>
            </a:r>
          </a:p>
          <a:p xmlns:a="http://schemas.openxmlformats.org/drawingml/2006/main">
            <a:r>
              <a:t>- student_package/output/states.db</a:t>
            </a:r>
          </a:p>
          <a:p xmlns:a="http://schemas.openxmlformats.org/drawingml/2006/main">
            <a:r>
              <a:t>- student_package/output/track_plot.png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student_package/docs/M4_mapping_review.md</a:t>
            </a:r>
          </a:p>
          <a:p xmlns:a="http://schemas.openxmlformats.org/drawingml/2006/main">
            <a:r>
              <a:t>- student_package/output/verified_mapping_table.csv</a:t>
            </a:r>
          </a:p>
          <a:p xmlns:a="http://schemas.openxmlformats.org/drawingml/2006/main">
            <a:r>
              <a:t>- student_package/output/unified_situation.ndjson</a:t>
            </a:r>
          </a:p>
          <a:p xmlns:a="http://schemas.openxmlformats.org/drawingml/2006/main">
            <a:r>
              <a:t>- student_package/output/alert_log.csv</a:t>
            </a:r>
          </a:p>
          <a:p xmlns:a="http://schemas.openxmlformats.org/drawingml/2006/main">
            <a:r>
              <a:t>- student_package/docs/M5_result_note.md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95ecfcb95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81a6d3fc634db7" /><Relationship Type="http://schemas.openxmlformats.org/officeDocument/2006/relationships/slideLayout" Target="/ppt/slideLayouts/slideLayout1.xml" Id="R47333d6d49eb45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33d6d49eb45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fcec7b43e4c47" /><Relationship Type="http://schemas.openxmlformats.org/officeDocument/2006/relationships/notesSlide" Target="/ppt/notesSlides/notesSlide1.xml" Id="R614173ee539d4c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6b63032244147" /><Relationship Type="http://schemas.openxmlformats.org/officeDocument/2006/relationships/notesSlide" Target="/ppt/notesSlides/notesSlide2.xml" Id="Re631330a76d9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179a3f2cc4680" /><Relationship Type="http://schemas.openxmlformats.org/officeDocument/2006/relationships/notesSlide" Target="/ppt/notesSlides/notesSlide3.xml" Id="R28ec41bc813a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476136ad24f7a" /><Relationship Type="http://schemas.openxmlformats.org/officeDocument/2006/relationships/image" Target="/ppt/media/image.png" Id="Rce72c73f0c954e5c" /><Relationship Type="http://schemas.openxmlformats.org/officeDocument/2006/relationships/image" Target="/ppt/media/image2.png" Id="Ra01862e00f024bdd" /><Relationship Type="http://schemas.openxmlformats.org/officeDocument/2006/relationships/notesSlide" Target="/ppt/notesSlides/notesSlide4.xml" Id="Rd1e5a7a6c05f4c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7def2afd84440" /><Relationship Type="http://schemas.openxmlformats.org/officeDocument/2006/relationships/notesSlide" Target="/ppt/notesSlides/notesSlide5.xml" Id="R4020d72e793641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CB4B8-E155-49D4-9273-271039B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数据链软件暑期学校 · M6综合演练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01A691E-C614-4B97-B331-7E1745C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离线状态如何变成可核验态势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EE7DA-0BAC-4A1E-B8B3-02E332E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系统边界：课程离线输入 → 教学帧 → 接收记录 → 统一语义 → 质量结论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A387C-5FA4-4BB7-A35E-756F5E2B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AC0CE-E277-4E38-8E23-9E0DB16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ECDB-977C-41AA-8065-655F189A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ACA84-9866-4672-A789-3EAAFF76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4B621-C742-4377-B448-832DC11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D8FF0-620D-4D84-B310-E3AA4C5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7F674-A959-4C6C-9A4D-C1A86086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81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F4608-63FA-42CB-9EC7-894E8851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离线输入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9174A-C212-49CF-AEB1-1B59E18A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发送方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BCB33-E597-4E19-A1FE-FB47979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41字节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封装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257EA-DAFD-4C87-9DCD-0846582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传输与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54805-233A-4ADA-8ADD-51D224D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CSV /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91B76-6734-4967-9927-E558327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航迹与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当前态势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87E70-8647-4B0D-A689-130A939D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双格式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EEB79-B814-4FA5-8422-03BD8A5C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52750"/>
            <a:ext cx="1209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告警与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质量态势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7FFFC-44CE-4DD6-9AB3-1FC8CD7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CBFCF-7724-4282-B3BF-1CE456AB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教学性质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02BA4-2349-4346-8BFB-FFE77E7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TeachingLink是学校自定义教学协议，不对应真实装备或行业标准。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12911-9A44-4B21-B991-17B19FF4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A6B52-F85A-42E9-81AB-DD42706E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M1-M6均使用本人实现与输出，未使用官方检查点。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EF524-DC81-4AB9-A67F-B488F25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可重复运行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9C09F-536E-4AD2-8F6B-404D960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空output运行通过；15类主线成果已重建。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96AC3-2A07-448F-992E-DB0B6EB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5155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D606695-D381-40F6-8B84-DBE340A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发送方把松散状态压成可交换的41字节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7CC1C-3EFD-48C1-ADFE-768EC0D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OpenSky数组先命名、校验和量程检查，再按大端偏移与定点规则封装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C6D23-918D-4D72-9C96-E6B3B3E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42F2E-8D22-4C38-A5AF-F1376C91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4529-5A40-4812-9960-1EB39A3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C3EDD-48B3-45D4-97D3-3B558528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外部状态向量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7E681-521D-421A-9652-95936FA9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526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固定索引 · 可空字段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5E2D8-AD7E-42D9-962E-11478C1D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发送方内部记录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66102-902F-4B7D-9CA4-DB38753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命名字段 · 来源语义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9877D-CEED-4D56-956B-18D14EFC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240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TeachingLink帧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1DEC5-6EBD-426B-A8FD-91B3B3E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26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固定偏移 · checksum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B2272-BFF6-4F40-92B3-184039D1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41字节布局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E3775-7EF6-4F40-9823-308CA40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帧头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AA031-CFD6-4F9A-AAAB-4785C968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219450"/>
            <a:ext cx="1571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序号+时间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B1A03-D6F7-4916-89A2-07095EE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1000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D0B92-A190-4E98-A8E4-1761293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呼号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5150C-C417-4C27-96DB-21FB0568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经纬度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33771-739A-4FEC-B11D-BA79110A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19450"/>
            <a:ext cx="166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运动量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5AC73-2BAA-4874-84A1-E77BDEB6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1000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标志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F809F-8C3A-4113-BBE7-80133D2A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19450"/>
            <a:ext cx="1000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30824-FAE0-4060-953C-764ACFD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有效位区分 None 与真实0；Q(y)=floor(y+0.5)；经纬度最高2位和标志保留位必须为0。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77525-16FF-4B5C-AF2A-2A629C0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33801-09E0-483F-8906-62AA6B4B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教学样例合法记录成功封帧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9FA3A-D949-4D1E-AE07-B836B7A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rPr>
              <a:t>28 / 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A3B0A-59C5-4EA9-8CB4-4D5D583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源值—协议码—解码值通过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DDBF8-BAD3-4AE8-9AE0-C6F7CCE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EECC8-282D-4282-8BA1-28F8F3C3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67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多时刻TeachingLink帧成功解码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02150-39E1-40F0-B20B-14211502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57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55D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7698E-0282-4C0F-9F57-EEAE25A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解析异常记录</a:t>
            </a:r>
          </a:p>
        </p:txBody>
      </p:sp>
    </p:spTree>
    <p:extLst>
      <p:ext uri="{BB962C8B-B14F-4D97-AF65-F5344CB8AC3E}">
        <p14:creationId xmlns:p14="http://schemas.microsoft.com/office/powerpoint/2010/main" val="170656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936ABAF-95F9-40C7-ACCA-2BBF746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接收判据把“可读”与“可信格式”分开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D1A7E-E58F-4CBA-BD0A-B706FA9F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逐帧校验失败不会拖垮批处理；通过后再保存CSV与可选SQLite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45D5F-C0CE-405D-818C-567F2F9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7FD35-A0D1-42B5-BBD7-372A05E8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接收端检查顺序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D17A3-97A3-4521-987A-369E5E86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EB3D-F9FA-4A3F-B05C-51D5396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8602C-EDB0-4614-B070-E3C4663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长度 / message_length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F07EA-BFC9-47C7-821E-0C55246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2EEEE-02E3-41BE-BD29-7A40F9FC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magic / version /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53AFA-809A-4C6E-9FB1-FA6637D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B3B28-D5A3-49D0-8648-86D63E1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051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checksum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FBAAC-E156-4DFC-A337-C34FA9E0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F417C-924F-4BAA-A433-88EDA20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经纬度与标志保留位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C4CEE-863B-486F-AAA9-D3B2BB5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EAE74-40C0-49EA-A084-B4E13CDA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有效位—占位一致性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80FF0-96C7-473A-8F35-53CB4C2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73BEB-3D23-46EE-8293-24650A9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恢复物理字段与来源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76F7F-E0A3-45D8-B68E-31B1623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62100"/>
            <a:ext cx="6115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6F7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B7CFD-07FC-4478-AFAE-5CAD21B6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33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51371-F51C-4C9D-AC76-5AD813B9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多时刻帧通过接收判据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02683-CC40-4C4F-931D-F58B31A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91B02-F374-4B26-922F-50D11A0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431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SQLite写入并重读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D66F4-2E7D-4715-82B3-A460BE3B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4DBDC-D885-4CF7-8CCA-BBD4173D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去重后的当前目标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98D5C-4507-486F-8A39-EA7E195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 state_record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3C5CF-CF8F-4D1A-A5DA-38D495E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92D6C-A70E-47A9-8C83-877EB03B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target_id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35DFE-BEC7-4743-8AE2-5B3E9027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7B478-95A5-4E05-A667-BE2376D3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57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必需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74DD5-5A27-4785-8C19-51196F2B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A3DCF-FA0D-427E-BAA7-3879853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timestamp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7FD74-9A64-48A1-A355-7B1692F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38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INTEGER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FE50F3-CF45-42AF-B171-18FB8074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38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必需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5B2DB9-3094-4AAA-88BA-82F4E76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87B1A5-22DA-497D-BD73-37094AC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9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lat / lon / altitude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3EBE02-68D6-4EB1-A303-9447AEF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19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REAL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FFE3B-676E-4B6D-BE06-0344B1E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19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可空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9869DC-A7BF-47E8-B989-D0CF0DD0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149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2DDD45-E920-488F-A210-D8E8086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status / validity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6E57AC-17A6-4D0C-A07A-F6B33F0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INTEGER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49CCF-5616-4A6D-AE1A-3D5DB30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00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标志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EF7F15-C61B-4114-80D1-5E95462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74B713-53D4-4AC8-A394-80916551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81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message_valid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CC20B5-D2DE-4FBE-87CC-DA2ABC8D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81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INTEGER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A6B9DC-6721-4B2C-B952-66371F2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81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接收结论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0EF5DD-C1FA-4F12-9202-EF142080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769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D46245-C1CD-4F01-BA2D-EF73F7F4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57875"/>
            <a:ext cx="5286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9A8A3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8332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选做R5：message_valid=false或上游帧错误 → FRAME_VALIDATION_ERROR / HIGH</a:t>
            </a:r>
          </a:p>
        </p:txBody>
      </p:sp>
    </p:spTree>
    <p:extLst>
      <p:ext uri="{BB962C8B-B14F-4D97-AF65-F5344CB8AC3E}">
        <p14:creationId xmlns:p14="http://schemas.microsoft.com/office/powerpoint/2010/main" val="940745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DEA9A36-025F-4803-8E48-78494E8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航迹保留时间序列，当前态势只保留每目标最新点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DCA48-20DD-44B2-9E94-415B29E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9个航迹点收敛为3个当前目标；最新位置为空的记录仍按有效目标和时间保留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7A98E-1507-45AD-9906-F7591FD4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53A10-400E-4500-BF67-1E48E8F8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选做航迹图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37E51-47B8-4C9C-9EEF-359B39C0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14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2c73f0c954e5c"/>
          <a:stretch xmlns:a="http://schemas.openxmlformats.org/drawingml/2006/main"/>
        </p:blipFill>
        <p:spPr>
          <a:xfrm xmlns:a="http://schemas.openxmlformats.org/drawingml/2006/main">
            <a:off x="666750" y="2479395"/>
            <a:ext cx="6915150" cy="21468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E6A46-2C0C-4B62-A5B8-23528F4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当前态势表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86279-0850-4DF3-874F-8F08761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543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62e00f024bdd"/>
          <a:stretch xmlns:a="http://schemas.openxmlformats.org/drawingml/2006/main"/>
        </p:blipFill>
        <p:spPr>
          <a:xfrm xmlns:a="http://schemas.openxmlformats.org/drawingml/2006/main">
            <a:off x="8210550" y="3016466"/>
            <a:ext cx="3314700" cy="107271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C57DA-CB7C-422F-B955-B927D7BC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DC6B6-4319-48AE-A9D8-2E87433D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91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按target_id分组的航迹点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977D8-1C5E-4158-BADD-21CDA90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81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0DC46-CBEA-4332-BAA4-22ABDFF6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991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每目标一条最新当前态势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1C830-AF58-4F8C-86BD-B78769A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81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6226E-F6D9-40A9-AC3B-EE717930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91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SQLite写入与回读一致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7621A-2BBF-4662-B7B0-4EA42D8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81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55D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06F7E-1BC9-43B0-9683-24CC9EC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91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有效经纬度点进入航迹图</a:t>
            </a:r>
          </a:p>
        </p:txBody>
      </p:sp>
    </p:spTree>
    <p:extLst>
      <p:ext uri="{BB962C8B-B14F-4D97-AF65-F5344CB8AC3E}">
        <p14:creationId xmlns:p14="http://schemas.microsoft.com/office/powerpoint/2010/main" val="1350528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9ADEB74-9548-4797-9431-89CC188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人工核验后的语义映射让质量结论可解释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4668-F08F-4C09-A138-1B256C01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候选只提供起点；正式规则、样例比较和已知限制共同约束最终结果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349FE-551D-4DBC-BD53-8108EB5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04D8C-7834-448B-8650-979D2FA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288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7C64F-F73F-49C4-BE4C-E6E92F56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9890-9F8B-41CF-8F6C-BAB2C8BA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98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6A7BA-0DE2-4406-B1CA-48C4CE6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DE646-DFC0-433E-B32C-4899711F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F3638-0136-4B24-88ED-36330B08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65521-60B5-4A98-A213-685B0871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61C41-FB43-4ADA-A4FC-7D4C0BB9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OpenSky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物理字段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71DA6-0DA5-4BCA-97F7-DE356B8A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TeachingLink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协议整数+标志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45B77-B1A4-4CA2-BE70-313E3CF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34条人工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核验规则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8FCDD-E848-4311-99DB-914ACA16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6条统一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NDJSON消息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DDB0E-AC93-40B7-8F42-258D60A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M5规则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5条告警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FC5F1-1246-4FA6-B66D-156AD52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37A53"/>
                </a:solidFill>
                <a:latin typeface="Microsoft YaHei"/>
                <a:ea typeface="Microsoft YaHei"/>
                <a:cs typeface="Microsoft YaHei"/>
              </a:rPr>
              <a:t>42 /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F2D31-2BB6-4653-A199-3711752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同目标双来源关键字段比较通过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C5673-9F25-48B8-A60F-605DE78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候选中发现并修正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AF2CFE-D214-4FAB-8392-3D94D816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经纬度目标层次互换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高度遗漏 -1000 m 偏置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呼号遗漏 validity bit6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时间回退误写为时间无效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7BD75-1ED0-4A6E-9A38-801BBC19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质量结果与改进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A936A-E17B-4F5D-B71E-C0D8FB84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52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ERROR 1 / WARNING 4 / NORMAL 1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R5已实现，固定样例坏帧为0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增加Schema验证与映射版本</a:t>
            </a:r>
          </a:p>
          <a:p xmlns:a="http://schemas.openxmlformats.org/drawingml/2006/main">
            <a:pPr algn="l">
              <a:def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B66"/>
                </a:solidFill>
                <a:latin typeface="Microsoft YaHei"/>
                <a:ea typeface="Microsoft YaHei"/>
                <a:cs typeface="Microsoft YaHei"/>
              </a:rPr>
              <a:t>• 扩展长时段航迹、同步与鉴权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CF20B-E1C6-4D11-8467-D0CECCEA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5425"/>
            <a:ext cx="1078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90500" tIns="17145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已知限制：离线固定帧、无失步重同步/重传/鉴权/多源融合；6.6独立运行，不纳入M6主线；未使用官方检查点。</a:t>
            </a:r>
          </a:p>
        </p:txBody>
      </p:sp>
    </p:spTree>
    <p:extLst>
      <p:ext uri="{BB962C8B-B14F-4D97-AF65-F5344CB8AC3E}">
        <p14:creationId xmlns:p14="http://schemas.microsoft.com/office/powerpoint/2010/main" val="1396292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2026-08-27T05:19:47.5020000Z</dcterms:created>
  <dcterms:modified xsi:type="dcterms:W3CDTF">2026-08-27T05:19:47.5020000Z</dcterms:modified>
</coreProperties>
</file>