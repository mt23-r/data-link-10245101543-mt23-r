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8"/>
  </p:notesMasterIdLst>
  <p:sldIdLst>
    <p:sldId id="259" r:id="rId2"/>
    <p:sldId id="292" r:id="rId3"/>
    <p:sldId id="280" r:id="rId4"/>
    <p:sldId id="293" r:id="rId5"/>
    <p:sldId id="296" r:id="rId6"/>
    <p:sldId id="297" r:id="rId7"/>
  </p:sldIdLst>
  <p:sldSz cx="12192000" cy="6858000"/>
  <p:notesSz cx="6858000" cy="9144000"/>
  <p:custDataLst>
    <p:tags r:id="rId9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78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E419C"/>
    <a:srgbClr val="4472C4"/>
    <a:srgbClr val="7F7F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704" autoAdjust="0"/>
    <p:restoredTop sz="94279" autoAdjust="0"/>
  </p:normalViewPr>
  <p:slideViewPr>
    <p:cSldViewPr showGuides="1">
      <p:cViewPr varScale="1">
        <p:scale>
          <a:sx n="97" d="100"/>
          <a:sy n="97" d="100"/>
        </p:scale>
        <p:origin x="68" y="356"/>
      </p:cViewPr>
      <p:guideLst>
        <p:guide orient="horz" pos="2178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tags" Target="tags/tag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1F5FCC-2B4E-4E63-AE43-A06AC1BB4691}" type="datetimeFigureOut">
              <a:rPr lang="zh-CN" altLang="en-US" smtClean="0"/>
              <a:t>2026/8/28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5A7C2C5-6CB9-4494-AA33-6FA6503D8A68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Object"/>
      </p:transition>
    </mc:Choice>
    <mc:Fallback xmlns="">
      <p:transition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本框 8"/>
          <p:cNvSpPr txBox="1"/>
          <p:nvPr userDrawn="1"/>
        </p:nvSpPr>
        <p:spPr>
          <a:xfrm>
            <a:off x="0" y="6732766"/>
            <a:ext cx="407368" cy="1077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00" dirty="0">
                <a:solidFill>
                  <a:schemeClr val="bg1"/>
                </a:solidFill>
              </a:rPr>
              <a:t>木卫林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Object"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3502D5C-AA8C-4595-A33F-B9794B6268AF}" type="datetimeFigureOut">
              <a:rPr lang="zh-CN" altLang="en-US" smtClean="0"/>
              <a:t>2026/8/28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3ABFDCD-7E08-4B74-9118-24CFF7CC0370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Object"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3502D5C-AA8C-4595-A33F-B9794B6268AF}" type="datetimeFigureOut">
              <a:rPr lang="zh-CN" altLang="en-US" smtClean="0"/>
              <a:t>2026/8/28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3ABFDCD-7E08-4B74-9118-24CFF7CC0370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Object"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3502D5C-AA8C-4595-A33F-B9794B6268AF}" type="datetimeFigureOut">
              <a:rPr lang="zh-CN" altLang="en-US" smtClean="0"/>
              <a:t>2026/8/28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3ABFDCD-7E08-4B74-9118-24CFF7CC0370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Object"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3502D5C-AA8C-4595-A33F-B9794B6268AF}" type="datetimeFigureOut">
              <a:rPr lang="zh-CN" altLang="en-US" smtClean="0"/>
              <a:t>2026/8/28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3ABFDCD-7E08-4B74-9118-24CFF7CC0370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Object"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3502D5C-AA8C-4595-A33F-B9794B6268AF}" type="datetimeFigureOut">
              <a:rPr lang="zh-CN" altLang="en-US" smtClean="0"/>
              <a:t>2026/8/28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3ABFDCD-7E08-4B74-9118-24CFF7CC0370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Object"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3502D5C-AA8C-4595-A33F-B9794B6268AF}" type="datetimeFigureOut">
              <a:rPr lang="zh-CN" altLang="en-US" smtClean="0"/>
              <a:t>2026/8/28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3ABFDCD-7E08-4B74-9118-24CFF7CC0370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Object"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3502D5C-AA8C-4595-A33F-B9794B6268AF}" type="datetimeFigureOut">
              <a:rPr lang="zh-CN" altLang="en-US" smtClean="0"/>
              <a:t>2026/8/28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3ABFDCD-7E08-4B74-9118-24CFF7CC0370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Object"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3502D5C-AA8C-4595-A33F-B9794B6268AF}" type="datetimeFigureOut">
              <a:rPr lang="zh-CN" altLang="en-US" smtClean="0"/>
              <a:t>2026/8/28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3ABFDCD-7E08-4B74-9118-24CFF7CC0370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Object"/>
      </p:transition>
    </mc:Choice>
    <mc:Fallback xmlns="">
      <p:transition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3502D5C-AA8C-4595-A33F-B9794B6268AF}" type="datetimeFigureOut">
              <a:rPr lang="zh-CN" altLang="en-US" smtClean="0"/>
              <a:t>2026/8/28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3ABFDCD-7E08-4B74-9118-24CFF7CC0370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Object"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Object"/>
      </p:transition>
    </mc:Choice>
    <mc:Fallback xmlns="">
      <p:transition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3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4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5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组合 46"/>
          <p:cNvGrpSpPr/>
          <p:nvPr/>
        </p:nvGrpSpPr>
        <p:grpSpPr>
          <a:xfrm>
            <a:off x="3417384" y="1981344"/>
            <a:ext cx="8007208" cy="4876656"/>
            <a:chOff x="699206" y="1626982"/>
            <a:chExt cx="5459904" cy="4366827"/>
          </a:xfrm>
        </p:grpSpPr>
        <p:sp>
          <p:nvSpPr>
            <p:cNvPr id="48" name="文本框 47"/>
            <p:cNvSpPr txBox="1"/>
            <p:nvPr/>
          </p:nvSpPr>
          <p:spPr>
            <a:xfrm>
              <a:off x="980119" y="2267746"/>
              <a:ext cx="5178991" cy="75178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4800" spc="600" dirty="0">
                  <a:solidFill>
                    <a:schemeClr val="bg1"/>
                  </a:solidFill>
                  <a:cs typeface="+mn-ea"/>
                  <a:sym typeface="+mn-lt"/>
                </a:rPr>
                <a:t>毕业论文答辩模板</a:t>
              </a:r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980119" y="3195224"/>
              <a:ext cx="5089078" cy="278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 spc="600" dirty="0">
                  <a:solidFill>
                    <a:schemeClr val="bg1"/>
                  </a:solidFill>
                  <a:cs typeface="+mn-ea"/>
                  <a:sym typeface="+mn-lt"/>
                </a:rPr>
                <a:t>Graduation thesis defense template</a:t>
              </a:r>
              <a:endParaRPr lang="zh-CN" altLang="en-US" sz="1400" spc="600" dirty="0">
                <a:solidFill>
                  <a:schemeClr val="bg1"/>
                </a:solidFill>
                <a:cs typeface="+mn-ea"/>
                <a:sym typeface="+mn-lt"/>
              </a:endParaRPr>
            </a:p>
          </p:txBody>
        </p:sp>
        <p:sp>
          <p:nvSpPr>
            <p:cNvPr id="50" name="矩形: 圆角 49"/>
            <p:cNvSpPr/>
            <p:nvPr/>
          </p:nvSpPr>
          <p:spPr>
            <a:xfrm>
              <a:off x="699206" y="1626982"/>
              <a:ext cx="5234666" cy="4237676"/>
            </a:xfrm>
            <a:prstGeom prst="roundRect">
              <a:avLst>
                <a:gd name="adj" fmla="val 3675"/>
              </a:avLst>
            </a:prstGeom>
            <a:solidFill>
              <a:schemeClr val="accent1"/>
            </a:solidFill>
            <a:ln>
              <a:noFill/>
            </a:ln>
            <a:effectLst>
              <a:outerShdw blurRad="304800" dist="127000" dir="2700000" algn="tl" rotWithShape="0">
                <a:schemeClr val="accent1">
                  <a:lumMod val="50000"/>
                  <a:alpha val="4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cs typeface="+mn-ea"/>
                <a:sym typeface="+mn-lt"/>
              </a:endParaRPr>
            </a:p>
          </p:txBody>
        </p:sp>
        <p:sp>
          <p:nvSpPr>
            <p:cNvPr id="51" name="矩形: 圆角 50"/>
            <p:cNvSpPr/>
            <p:nvPr/>
          </p:nvSpPr>
          <p:spPr>
            <a:xfrm>
              <a:off x="699206" y="1756133"/>
              <a:ext cx="5234666" cy="4237676"/>
            </a:xfrm>
            <a:prstGeom prst="roundRect">
              <a:avLst>
                <a:gd name="adj" fmla="val 3675"/>
              </a:avLst>
            </a:prstGeom>
            <a:solidFill>
              <a:schemeClr val="bg1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cs typeface="+mn-ea"/>
                <a:sym typeface="+mn-lt"/>
              </a:endParaRPr>
            </a:p>
          </p:txBody>
        </p:sp>
        <p:sp>
          <p:nvSpPr>
            <p:cNvPr id="70" name="文本框 69"/>
            <p:cNvSpPr txBox="1"/>
            <p:nvPr/>
          </p:nvSpPr>
          <p:spPr>
            <a:xfrm>
              <a:off x="1087448" y="3163082"/>
              <a:ext cx="1040928" cy="2550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+mn-ea"/>
                <a:sym typeface="+mn-lt"/>
              </a:endParaRPr>
            </a:p>
          </p:txBody>
        </p:sp>
      </p:grpSp>
      <p:grpSp>
        <p:nvGrpSpPr>
          <p:cNvPr id="13" name="组合 12"/>
          <p:cNvGrpSpPr/>
          <p:nvPr/>
        </p:nvGrpSpPr>
        <p:grpSpPr>
          <a:xfrm>
            <a:off x="11021521" y="5805441"/>
            <a:ext cx="1013175" cy="837275"/>
            <a:chOff x="9057311" y="4165781"/>
            <a:chExt cx="2073210" cy="1713274"/>
          </a:xfrm>
        </p:grpSpPr>
        <p:sp>
          <p:nvSpPr>
            <p:cNvPr id="14" name="任意多边形: 形状 13"/>
            <p:cNvSpPr/>
            <p:nvPr/>
          </p:nvSpPr>
          <p:spPr>
            <a:xfrm>
              <a:off x="9621603" y="4728092"/>
              <a:ext cx="466603" cy="473274"/>
            </a:xfrm>
            <a:custGeom>
              <a:avLst/>
              <a:gdLst>
                <a:gd name="connsiteX0" fmla="*/ 284131 w 284130"/>
                <a:gd name="connsiteY0" fmla="*/ 95726 h 284035"/>
                <a:gd name="connsiteX1" fmla="*/ 188404 w 284130"/>
                <a:gd name="connsiteY1" fmla="*/ 95726 h 284035"/>
                <a:gd name="connsiteX2" fmla="*/ 188404 w 284130"/>
                <a:gd name="connsiteY2" fmla="*/ 0 h 284035"/>
                <a:gd name="connsiteX3" fmla="*/ 95726 w 284130"/>
                <a:gd name="connsiteY3" fmla="*/ 0 h 284035"/>
                <a:gd name="connsiteX4" fmla="*/ 95726 w 284130"/>
                <a:gd name="connsiteY4" fmla="*/ 95726 h 284035"/>
                <a:gd name="connsiteX5" fmla="*/ 0 w 284130"/>
                <a:gd name="connsiteY5" fmla="*/ 95726 h 284035"/>
                <a:gd name="connsiteX6" fmla="*/ 0 w 284130"/>
                <a:gd name="connsiteY6" fmla="*/ 188309 h 284035"/>
                <a:gd name="connsiteX7" fmla="*/ 95726 w 284130"/>
                <a:gd name="connsiteY7" fmla="*/ 188309 h 284035"/>
                <a:gd name="connsiteX8" fmla="*/ 95726 w 284130"/>
                <a:gd name="connsiteY8" fmla="*/ 284036 h 284035"/>
                <a:gd name="connsiteX9" fmla="*/ 188404 w 284130"/>
                <a:gd name="connsiteY9" fmla="*/ 284036 h 284035"/>
                <a:gd name="connsiteX10" fmla="*/ 188404 w 284130"/>
                <a:gd name="connsiteY10" fmla="*/ 188309 h 284035"/>
                <a:gd name="connsiteX11" fmla="*/ 284131 w 284130"/>
                <a:gd name="connsiteY11" fmla="*/ 188309 h 284035"/>
                <a:gd name="connsiteX12" fmla="*/ 284131 w 284130"/>
                <a:gd name="connsiteY12" fmla="*/ 95726 h 284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84130" h="284035">
                  <a:moveTo>
                    <a:pt x="284131" y="95726"/>
                  </a:moveTo>
                  <a:lnTo>
                    <a:pt x="188404" y="95726"/>
                  </a:lnTo>
                  <a:lnTo>
                    <a:pt x="188404" y="0"/>
                  </a:lnTo>
                  <a:lnTo>
                    <a:pt x="95726" y="0"/>
                  </a:lnTo>
                  <a:lnTo>
                    <a:pt x="95726" y="95726"/>
                  </a:lnTo>
                  <a:lnTo>
                    <a:pt x="0" y="95726"/>
                  </a:lnTo>
                  <a:lnTo>
                    <a:pt x="0" y="188309"/>
                  </a:lnTo>
                  <a:lnTo>
                    <a:pt x="95726" y="188309"/>
                  </a:lnTo>
                  <a:lnTo>
                    <a:pt x="95726" y="284036"/>
                  </a:lnTo>
                  <a:lnTo>
                    <a:pt x="188404" y="284036"/>
                  </a:lnTo>
                  <a:lnTo>
                    <a:pt x="188404" y="188309"/>
                  </a:lnTo>
                  <a:lnTo>
                    <a:pt x="284131" y="188309"/>
                  </a:lnTo>
                  <a:lnTo>
                    <a:pt x="284131" y="95726"/>
                  </a:lnTo>
                  <a:close/>
                </a:path>
              </a:pathLst>
            </a:custGeom>
            <a:gradFill>
              <a:gsLst>
                <a:gs pos="100000">
                  <a:schemeClr val="accent1">
                    <a:alpha val="49000"/>
                  </a:schemeClr>
                </a:gs>
                <a:gs pos="15000">
                  <a:schemeClr val="accent1">
                    <a:alpha val="0"/>
                  </a:schemeClr>
                </a:gs>
              </a:gsLst>
              <a:lin ang="0" scaled="0"/>
            </a:gra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7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cs typeface="+mn-ea"/>
                <a:sym typeface="+mn-lt"/>
              </a:endParaRPr>
            </a:p>
          </p:txBody>
        </p:sp>
        <p:sp>
          <p:nvSpPr>
            <p:cNvPr id="15" name="任意多边形: 形状 14"/>
            <p:cNvSpPr/>
            <p:nvPr/>
          </p:nvSpPr>
          <p:spPr>
            <a:xfrm>
              <a:off x="9057311" y="5389435"/>
              <a:ext cx="446113" cy="452642"/>
            </a:xfrm>
            <a:custGeom>
              <a:avLst/>
              <a:gdLst>
                <a:gd name="connsiteX0" fmla="*/ 172323 w 271653"/>
                <a:gd name="connsiteY0" fmla="*/ 7811 h 271653"/>
                <a:gd name="connsiteX1" fmla="*/ 172323 w 271653"/>
                <a:gd name="connsiteY1" fmla="*/ 99346 h 271653"/>
                <a:gd name="connsiteX2" fmla="*/ 263859 w 271653"/>
                <a:gd name="connsiteY2" fmla="*/ 99346 h 271653"/>
                <a:gd name="connsiteX3" fmla="*/ 263859 w 271653"/>
                <a:gd name="connsiteY3" fmla="*/ 172307 h 271653"/>
                <a:gd name="connsiteX4" fmla="*/ 172323 w 271653"/>
                <a:gd name="connsiteY4" fmla="*/ 172307 h 271653"/>
                <a:gd name="connsiteX5" fmla="*/ 172323 w 271653"/>
                <a:gd name="connsiteY5" fmla="*/ 263842 h 271653"/>
                <a:gd name="connsiteX6" fmla="*/ 99362 w 271653"/>
                <a:gd name="connsiteY6" fmla="*/ 263842 h 271653"/>
                <a:gd name="connsiteX7" fmla="*/ 99362 w 271653"/>
                <a:gd name="connsiteY7" fmla="*/ 172307 h 271653"/>
                <a:gd name="connsiteX8" fmla="*/ 7827 w 271653"/>
                <a:gd name="connsiteY8" fmla="*/ 172307 h 271653"/>
                <a:gd name="connsiteX9" fmla="*/ 7827 w 271653"/>
                <a:gd name="connsiteY9" fmla="*/ 99346 h 271653"/>
                <a:gd name="connsiteX10" fmla="*/ 99362 w 271653"/>
                <a:gd name="connsiteY10" fmla="*/ 99346 h 271653"/>
                <a:gd name="connsiteX11" fmla="*/ 99362 w 271653"/>
                <a:gd name="connsiteY11" fmla="*/ 7811 h 271653"/>
                <a:gd name="connsiteX12" fmla="*/ 172323 w 271653"/>
                <a:gd name="connsiteY12" fmla="*/ 7811 h 271653"/>
                <a:gd name="connsiteX13" fmla="*/ 180134 w 271653"/>
                <a:gd name="connsiteY13" fmla="*/ 0 h 271653"/>
                <a:gd name="connsiteX14" fmla="*/ 91551 w 271653"/>
                <a:gd name="connsiteY14" fmla="*/ 0 h 271653"/>
                <a:gd name="connsiteX15" fmla="*/ 91551 w 271653"/>
                <a:gd name="connsiteY15" fmla="*/ 91535 h 271653"/>
                <a:gd name="connsiteX16" fmla="*/ 16 w 271653"/>
                <a:gd name="connsiteY16" fmla="*/ 91535 h 271653"/>
                <a:gd name="connsiteX17" fmla="*/ 16 w 271653"/>
                <a:gd name="connsiteY17" fmla="*/ 180118 h 271653"/>
                <a:gd name="connsiteX18" fmla="*/ 91551 w 271653"/>
                <a:gd name="connsiteY18" fmla="*/ 180118 h 271653"/>
                <a:gd name="connsiteX19" fmla="*/ 91551 w 271653"/>
                <a:gd name="connsiteY19" fmla="*/ 271653 h 271653"/>
                <a:gd name="connsiteX20" fmla="*/ 180134 w 271653"/>
                <a:gd name="connsiteY20" fmla="*/ 271653 h 271653"/>
                <a:gd name="connsiteX21" fmla="*/ 180134 w 271653"/>
                <a:gd name="connsiteY21" fmla="*/ 180118 h 271653"/>
                <a:gd name="connsiteX22" fmla="*/ 271669 w 271653"/>
                <a:gd name="connsiteY22" fmla="*/ 180118 h 271653"/>
                <a:gd name="connsiteX23" fmla="*/ 271669 w 271653"/>
                <a:gd name="connsiteY23" fmla="*/ 91535 h 271653"/>
                <a:gd name="connsiteX24" fmla="*/ 180134 w 271653"/>
                <a:gd name="connsiteY24" fmla="*/ 91535 h 271653"/>
                <a:gd name="connsiteX25" fmla="*/ 180134 w 271653"/>
                <a:gd name="connsiteY25" fmla="*/ 0 h 2716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71653" h="271653">
                  <a:moveTo>
                    <a:pt x="172323" y="7811"/>
                  </a:moveTo>
                  <a:lnTo>
                    <a:pt x="172323" y="99346"/>
                  </a:lnTo>
                  <a:lnTo>
                    <a:pt x="263859" y="99346"/>
                  </a:lnTo>
                  <a:lnTo>
                    <a:pt x="263859" y="172307"/>
                  </a:lnTo>
                  <a:lnTo>
                    <a:pt x="172323" y="172307"/>
                  </a:lnTo>
                  <a:lnTo>
                    <a:pt x="172323" y="263842"/>
                  </a:lnTo>
                  <a:lnTo>
                    <a:pt x="99362" y="263842"/>
                  </a:lnTo>
                  <a:lnTo>
                    <a:pt x="99362" y="172307"/>
                  </a:lnTo>
                  <a:lnTo>
                    <a:pt x="7827" y="172307"/>
                  </a:lnTo>
                  <a:lnTo>
                    <a:pt x="7827" y="99346"/>
                  </a:lnTo>
                  <a:lnTo>
                    <a:pt x="99362" y="99346"/>
                  </a:lnTo>
                  <a:lnTo>
                    <a:pt x="99362" y="7811"/>
                  </a:lnTo>
                  <a:lnTo>
                    <a:pt x="172323" y="7811"/>
                  </a:lnTo>
                  <a:moveTo>
                    <a:pt x="180134" y="0"/>
                  </a:moveTo>
                  <a:lnTo>
                    <a:pt x="91551" y="0"/>
                  </a:lnTo>
                  <a:lnTo>
                    <a:pt x="91551" y="91535"/>
                  </a:lnTo>
                  <a:lnTo>
                    <a:pt x="16" y="91535"/>
                  </a:lnTo>
                  <a:lnTo>
                    <a:pt x="16" y="180118"/>
                  </a:lnTo>
                  <a:lnTo>
                    <a:pt x="91551" y="180118"/>
                  </a:lnTo>
                  <a:lnTo>
                    <a:pt x="91551" y="271653"/>
                  </a:lnTo>
                  <a:lnTo>
                    <a:pt x="180134" y="271653"/>
                  </a:lnTo>
                  <a:lnTo>
                    <a:pt x="180134" y="180118"/>
                  </a:lnTo>
                  <a:lnTo>
                    <a:pt x="271669" y="180118"/>
                  </a:lnTo>
                  <a:lnTo>
                    <a:pt x="271669" y="91535"/>
                  </a:lnTo>
                  <a:lnTo>
                    <a:pt x="180134" y="91535"/>
                  </a:lnTo>
                  <a:lnTo>
                    <a:pt x="180134" y="0"/>
                  </a:lnTo>
                  <a:close/>
                </a:path>
              </a:pathLst>
            </a:custGeom>
            <a:gradFill>
              <a:gsLst>
                <a:gs pos="100000">
                  <a:schemeClr val="accent1">
                    <a:alpha val="49000"/>
                  </a:schemeClr>
                </a:gs>
                <a:gs pos="15000">
                  <a:schemeClr val="accent1">
                    <a:alpha val="0"/>
                  </a:schemeClr>
                </a:gs>
              </a:gsLst>
              <a:lin ang="0" scaled="0"/>
            </a:gra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7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cs typeface="+mn-ea"/>
                <a:sym typeface="+mn-lt"/>
              </a:endParaRPr>
            </a:p>
          </p:txBody>
        </p:sp>
        <p:sp>
          <p:nvSpPr>
            <p:cNvPr id="16" name="任意多边形: 形状 15"/>
            <p:cNvSpPr/>
            <p:nvPr/>
          </p:nvSpPr>
          <p:spPr>
            <a:xfrm>
              <a:off x="10165404" y="4899813"/>
              <a:ext cx="965117" cy="979242"/>
            </a:xfrm>
            <a:custGeom>
              <a:avLst/>
              <a:gdLst>
                <a:gd name="connsiteX0" fmla="*/ 372825 w 587692"/>
                <a:gd name="connsiteY0" fmla="*/ 16954 h 587692"/>
                <a:gd name="connsiteX1" fmla="*/ 372825 w 587692"/>
                <a:gd name="connsiteY1" fmla="*/ 214979 h 587692"/>
                <a:gd name="connsiteX2" fmla="*/ 570849 w 587692"/>
                <a:gd name="connsiteY2" fmla="*/ 214979 h 587692"/>
                <a:gd name="connsiteX3" fmla="*/ 570849 w 587692"/>
                <a:gd name="connsiteY3" fmla="*/ 372808 h 587692"/>
                <a:gd name="connsiteX4" fmla="*/ 372825 w 587692"/>
                <a:gd name="connsiteY4" fmla="*/ 372808 h 587692"/>
                <a:gd name="connsiteX5" fmla="*/ 372825 w 587692"/>
                <a:gd name="connsiteY5" fmla="*/ 570833 h 587692"/>
                <a:gd name="connsiteX6" fmla="*/ 214995 w 587692"/>
                <a:gd name="connsiteY6" fmla="*/ 570833 h 587692"/>
                <a:gd name="connsiteX7" fmla="*/ 214995 w 587692"/>
                <a:gd name="connsiteY7" fmla="*/ 372808 h 587692"/>
                <a:gd name="connsiteX8" fmla="*/ 16971 w 587692"/>
                <a:gd name="connsiteY8" fmla="*/ 372808 h 587692"/>
                <a:gd name="connsiteX9" fmla="*/ 16971 w 587692"/>
                <a:gd name="connsiteY9" fmla="*/ 214979 h 587692"/>
                <a:gd name="connsiteX10" fmla="*/ 214995 w 587692"/>
                <a:gd name="connsiteY10" fmla="*/ 214979 h 587692"/>
                <a:gd name="connsiteX11" fmla="*/ 214995 w 587692"/>
                <a:gd name="connsiteY11" fmla="*/ 16954 h 587692"/>
                <a:gd name="connsiteX12" fmla="*/ 372825 w 587692"/>
                <a:gd name="connsiteY12" fmla="*/ 16954 h 587692"/>
                <a:gd name="connsiteX13" fmla="*/ 389684 w 587692"/>
                <a:gd name="connsiteY13" fmla="*/ 0 h 587692"/>
                <a:gd name="connsiteX14" fmla="*/ 198041 w 587692"/>
                <a:gd name="connsiteY14" fmla="*/ 0 h 587692"/>
                <a:gd name="connsiteX15" fmla="*/ 198041 w 587692"/>
                <a:gd name="connsiteY15" fmla="*/ 198025 h 587692"/>
                <a:gd name="connsiteX16" fmla="*/ 16 w 587692"/>
                <a:gd name="connsiteY16" fmla="*/ 198025 h 587692"/>
                <a:gd name="connsiteX17" fmla="*/ 16 w 587692"/>
                <a:gd name="connsiteY17" fmla="*/ 389668 h 587692"/>
                <a:gd name="connsiteX18" fmla="*/ 198041 w 587692"/>
                <a:gd name="connsiteY18" fmla="*/ 389668 h 587692"/>
                <a:gd name="connsiteX19" fmla="*/ 198041 w 587692"/>
                <a:gd name="connsiteY19" fmla="*/ 587693 h 587692"/>
                <a:gd name="connsiteX20" fmla="*/ 389684 w 587692"/>
                <a:gd name="connsiteY20" fmla="*/ 587693 h 587692"/>
                <a:gd name="connsiteX21" fmla="*/ 389684 w 587692"/>
                <a:gd name="connsiteY21" fmla="*/ 389668 h 587692"/>
                <a:gd name="connsiteX22" fmla="*/ 587709 w 587692"/>
                <a:gd name="connsiteY22" fmla="*/ 389668 h 587692"/>
                <a:gd name="connsiteX23" fmla="*/ 587709 w 587692"/>
                <a:gd name="connsiteY23" fmla="*/ 198025 h 587692"/>
                <a:gd name="connsiteX24" fmla="*/ 389684 w 587692"/>
                <a:gd name="connsiteY24" fmla="*/ 198025 h 587692"/>
                <a:gd name="connsiteX25" fmla="*/ 389684 w 587692"/>
                <a:gd name="connsiteY25" fmla="*/ 0 h 5876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587692" h="587692">
                  <a:moveTo>
                    <a:pt x="372825" y="16954"/>
                  </a:moveTo>
                  <a:lnTo>
                    <a:pt x="372825" y="214979"/>
                  </a:lnTo>
                  <a:lnTo>
                    <a:pt x="570849" y="214979"/>
                  </a:lnTo>
                  <a:lnTo>
                    <a:pt x="570849" y="372808"/>
                  </a:lnTo>
                  <a:lnTo>
                    <a:pt x="372825" y="372808"/>
                  </a:lnTo>
                  <a:lnTo>
                    <a:pt x="372825" y="570833"/>
                  </a:lnTo>
                  <a:lnTo>
                    <a:pt x="214995" y="570833"/>
                  </a:lnTo>
                  <a:lnTo>
                    <a:pt x="214995" y="372808"/>
                  </a:lnTo>
                  <a:lnTo>
                    <a:pt x="16971" y="372808"/>
                  </a:lnTo>
                  <a:lnTo>
                    <a:pt x="16971" y="214979"/>
                  </a:lnTo>
                  <a:lnTo>
                    <a:pt x="214995" y="214979"/>
                  </a:lnTo>
                  <a:lnTo>
                    <a:pt x="214995" y="16954"/>
                  </a:lnTo>
                  <a:lnTo>
                    <a:pt x="372825" y="16954"/>
                  </a:lnTo>
                  <a:moveTo>
                    <a:pt x="389684" y="0"/>
                  </a:moveTo>
                  <a:lnTo>
                    <a:pt x="198041" y="0"/>
                  </a:lnTo>
                  <a:lnTo>
                    <a:pt x="198041" y="198025"/>
                  </a:lnTo>
                  <a:lnTo>
                    <a:pt x="16" y="198025"/>
                  </a:lnTo>
                  <a:lnTo>
                    <a:pt x="16" y="389668"/>
                  </a:lnTo>
                  <a:lnTo>
                    <a:pt x="198041" y="389668"/>
                  </a:lnTo>
                  <a:lnTo>
                    <a:pt x="198041" y="587693"/>
                  </a:lnTo>
                  <a:lnTo>
                    <a:pt x="389684" y="587693"/>
                  </a:lnTo>
                  <a:lnTo>
                    <a:pt x="389684" y="389668"/>
                  </a:lnTo>
                  <a:lnTo>
                    <a:pt x="587709" y="389668"/>
                  </a:lnTo>
                  <a:lnTo>
                    <a:pt x="587709" y="198025"/>
                  </a:lnTo>
                  <a:lnTo>
                    <a:pt x="389684" y="198025"/>
                  </a:lnTo>
                  <a:lnTo>
                    <a:pt x="389684" y="0"/>
                  </a:lnTo>
                  <a:close/>
                </a:path>
              </a:pathLst>
            </a:custGeom>
            <a:gradFill>
              <a:gsLst>
                <a:gs pos="100000">
                  <a:schemeClr val="accent1">
                    <a:alpha val="49000"/>
                  </a:schemeClr>
                </a:gs>
                <a:gs pos="15000">
                  <a:schemeClr val="accent1">
                    <a:alpha val="0"/>
                  </a:schemeClr>
                </a:gs>
              </a:gsLst>
              <a:lin ang="0" scaled="0"/>
            </a:gra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7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cs typeface="+mn-ea"/>
                <a:sym typeface="+mn-lt"/>
              </a:endParaRPr>
            </a:p>
          </p:txBody>
        </p:sp>
        <p:sp>
          <p:nvSpPr>
            <p:cNvPr id="17" name="任意多边形: 形状 16"/>
            <p:cNvSpPr/>
            <p:nvPr/>
          </p:nvSpPr>
          <p:spPr>
            <a:xfrm>
              <a:off x="10167513" y="4165781"/>
              <a:ext cx="503206" cy="511046"/>
            </a:xfrm>
            <a:custGeom>
              <a:avLst/>
              <a:gdLst>
                <a:gd name="connsiteX0" fmla="*/ 194326 w 306419"/>
                <a:gd name="connsiteY0" fmla="*/ 8858 h 306704"/>
                <a:gd name="connsiteX1" fmla="*/ 194326 w 306419"/>
                <a:gd name="connsiteY1" fmla="*/ 112109 h 306704"/>
                <a:gd name="connsiteX2" fmla="*/ 297577 w 306419"/>
                <a:gd name="connsiteY2" fmla="*/ 112109 h 306704"/>
                <a:gd name="connsiteX3" fmla="*/ 297577 w 306419"/>
                <a:gd name="connsiteY3" fmla="*/ 194405 h 306704"/>
                <a:gd name="connsiteX4" fmla="*/ 194326 w 306419"/>
                <a:gd name="connsiteY4" fmla="*/ 194405 h 306704"/>
                <a:gd name="connsiteX5" fmla="*/ 194326 w 306419"/>
                <a:gd name="connsiteY5" fmla="*/ 297656 h 306704"/>
                <a:gd name="connsiteX6" fmla="*/ 112125 w 306419"/>
                <a:gd name="connsiteY6" fmla="*/ 297656 h 306704"/>
                <a:gd name="connsiteX7" fmla="*/ 112125 w 306419"/>
                <a:gd name="connsiteY7" fmla="*/ 194405 h 306704"/>
                <a:gd name="connsiteX8" fmla="*/ 8874 w 306419"/>
                <a:gd name="connsiteY8" fmla="*/ 194405 h 306704"/>
                <a:gd name="connsiteX9" fmla="*/ 8874 w 306419"/>
                <a:gd name="connsiteY9" fmla="*/ 112109 h 306704"/>
                <a:gd name="connsiteX10" fmla="*/ 112125 w 306419"/>
                <a:gd name="connsiteY10" fmla="*/ 112109 h 306704"/>
                <a:gd name="connsiteX11" fmla="*/ 112125 w 306419"/>
                <a:gd name="connsiteY11" fmla="*/ 8858 h 306704"/>
                <a:gd name="connsiteX12" fmla="*/ 194326 w 306419"/>
                <a:gd name="connsiteY12" fmla="*/ 8858 h 306704"/>
                <a:gd name="connsiteX13" fmla="*/ 203184 w 306419"/>
                <a:gd name="connsiteY13" fmla="*/ 0 h 306704"/>
                <a:gd name="connsiteX14" fmla="*/ 103267 w 306419"/>
                <a:gd name="connsiteY14" fmla="*/ 0 h 306704"/>
                <a:gd name="connsiteX15" fmla="*/ 103267 w 306419"/>
                <a:gd name="connsiteY15" fmla="*/ 103251 h 306704"/>
                <a:gd name="connsiteX16" fmla="*/ 16 w 306419"/>
                <a:gd name="connsiteY16" fmla="*/ 103251 h 306704"/>
                <a:gd name="connsiteX17" fmla="*/ 16 w 306419"/>
                <a:gd name="connsiteY17" fmla="*/ 203454 h 306704"/>
                <a:gd name="connsiteX18" fmla="*/ 103267 w 306419"/>
                <a:gd name="connsiteY18" fmla="*/ 203454 h 306704"/>
                <a:gd name="connsiteX19" fmla="*/ 103267 w 306419"/>
                <a:gd name="connsiteY19" fmla="*/ 306705 h 306704"/>
                <a:gd name="connsiteX20" fmla="*/ 203184 w 306419"/>
                <a:gd name="connsiteY20" fmla="*/ 306705 h 306704"/>
                <a:gd name="connsiteX21" fmla="*/ 203184 w 306419"/>
                <a:gd name="connsiteY21" fmla="*/ 203454 h 306704"/>
                <a:gd name="connsiteX22" fmla="*/ 306435 w 306419"/>
                <a:gd name="connsiteY22" fmla="*/ 203454 h 306704"/>
                <a:gd name="connsiteX23" fmla="*/ 306435 w 306419"/>
                <a:gd name="connsiteY23" fmla="*/ 103251 h 306704"/>
                <a:gd name="connsiteX24" fmla="*/ 203184 w 306419"/>
                <a:gd name="connsiteY24" fmla="*/ 103251 h 306704"/>
                <a:gd name="connsiteX25" fmla="*/ 203184 w 306419"/>
                <a:gd name="connsiteY25" fmla="*/ 0 h 3067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06419" h="306704">
                  <a:moveTo>
                    <a:pt x="194326" y="8858"/>
                  </a:moveTo>
                  <a:lnTo>
                    <a:pt x="194326" y="112109"/>
                  </a:lnTo>
                  <a:lnTo>
                    <a:pt x="297577" y="112109"/>
                  </a:lnTo>
                  <a:lnTo>
                    <a:pt x="297577" y="194405"/>
                  </a:lnTo>
                  <a:lnTo>
                    <a:pt x="194326" y="194405"/>
                  </a:lnTo>
                  <a:lnTo>
                    <a:pt x="194326" y="297656"/>
                  </a:lnTo>
                  <a:lnTo>
                    <a:pt x="112125" y="297656"/>
                  </a:lnTo>
                  <a:lnTo>
                    <a:pt x="112125" y="194405"/>
                  </a:lnTo>
                  <a:lnTo>
                    <a:pt x="8874" y="194405"/>
                  </a:lnTo>
                  <a:lnTo>
                    <a:pt x="8874" y="112109"/>
                  </a:lnTo>
                  <a:lnTo>
                    <a:pt x="112125" y="112109"/>
                  </a:lnTo>
                  <a:lnTo>
                    <a:pt x="112125" y="8858"/>
                  </a:lnTo>
                  <a:lnTo>
                    <a:pt x="194326" y="8858"/>
                  </a:lnTo>
                  <a:moveTo>
                    <a:pt x="203184" y="0"/>
                  </a:moveTo>
                  <a:lnTo>
                    <a:pt x="103267" y="0"/>
                  </a:lnTo>
                  <a:lnTo>
                    <a:pt x="103267" y="103251"/>
                  </a:lnTo>
                  <a:lnTo>
                    <a:pt x="16" y="103251"/>
                  </a:lnTo>
                  <a:lnTo>
                    <a:pt x="16" y="203454"/>
                  </a:lnTo>
                  <a:lnTo>
                    <a:pt x="103267" y="203454"/>
                  </a:lnTo>
                  <a:lnTo>
                    <a:pt x="103267" y="306705"/>
                  </a:lnTo>
                  <a:lnTo>
                    <a:pt x="203184" y="306705"/>
                  </a:lnTo>
                  <a:lnTo>
                    <a:pt x="203184" y="203454"/>
                  </a:lnTo>
                  <a:lnTo>
                    <a:pt x="306435" y="203454"/>
                  </a:lnTo>
                  <a:lnTo>
                    <a:pt x="306435" y="103251"/>
                  </a:lnTo>
                  <a:lnTo>
                    <a:pt x="203184" y="103251"/>
                  </a:lnTo>
                  <a:lnTo>
                    <a:pt x="203184" y="0"/>
                  </a:lnTo>
                  <a:close/>
                </a:path>
              </a:pathLst>
            </a:custGeom>
            <a:gradFill>
              <a:gsLst>
                <a:gs pos="100000">
                  <a:schemeClr val="accent1">
                    <a:alpha val="49000"/>
                  </a:schemeClr>
                </a:gs>
                <a:gs pos="15000">
                  <a:schemeClr val="accent1">
                    <a:alpha val="0"/>
                  </a:schemeClr>
                </a:gs>
              </a:gsLst>
              <a:lin ang="0" scaled="0"/>
            </a:gra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7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cs typeface="+mn-ea"/>
                <a:sym typeface="+mn-lt"/>
              </a:endParaRPr>
            </a:p>
          </p:txBody>
        </p:sp>
      </p:grpSp>
      <p:sp>
        <p:nvSpPr>
          <p:cNvPr id="75" name="文本框 74"/>
          <p:cNvSpPr txBox="1"/>
          <p:nvPr/>
        </p:nvSpPr>
        <p:spPr>
          <a:xfrm>
            <a:off x="6561768" y="1496397"/>
            <a:ext cx="4862824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CN"/>
            </a:defPPr>
            <a:lvl1pPr marR="0" lvl="0" indent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阿里巴巴普惠体 B"/>
                <a:ea typeface="阿里巴巴普惠体 B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lt"/>
                <a:ea typeface="+mn-ea"/>
                <a:cs typeface="+mn-ea"/>
                <a:sym typeface="+mn-lt"/>
              </a:rPr>
              <a:t>标题</a:t>
            </a:r>
          </a:p>
        </p:txBody>
      </p:sp>
      <p:grpSp>
        <p:nvGrpSpPr>
          <p:cNvPr id="3" name="组合 2"/>
          <p:cNvGrpSpPr/>
          <p:nvPr/>
        </p:nvGrpSpPr>
        <p:grpSpPr>
          <a:xfrm>
            <a:off x="62861" y="735369"/>
            <a:ext cx="11249466" cy="398888"/>
            <a:chOff x="934400" y="936575"/>
            <a:chExt cx="11249466" cy="398888"/>
          </a:xfrm>
        </p:grpSpPr>
        <p:sp>
          <p:nvSpPr>
            <p:cNvPr id="24" name="文本框 47"/>
            <p:cNvSpPr txBox="1"/>
            <p:nvPr/>
          </p:nvSpPr>
          <p:spPr>
            <a:xfrm>
              <a:off x="1065521" y="936575"/>
              <a:ext cx="1111834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atinLnBrk="1"/>
              <a:r>
                <a:rPr lang="zh-CN" altLang="zh-CN" dirty="0"/>
                <a:t>OpenSky 状态快照</a:t>
              </a:r>
              <a:r>
                <a:rPr lang="en-US" altLang="zh-CN" dirty="0">
                  <a:sym typeface="Wingdings" panose="05000000000000000000" pitchFamily="2" charset="2"/>
                </a:rPr>
                <a:t></a:t>
              </a:r>
              <a:r>
                <a:rPr lang="zh-CN" altLang="zh-CN" dirty="0"/>
                <a:t>可用态势数据（M</a:t>
              </a:r>
              <a:r>
                <a:rPr lang="en-US" altLang="zh-CN" dirty="0"/>
                <a:t>1</a:t>
              </a:r>
              <a:r>
                <a:rPr lang="zh-CN" altLang="zh-CN" dirty="0"/>
                <a:t>）</a:t>
              </a:r>
            </a:p>
          </p:txBody>
        </p:sp>
        <p:sp>
          <p:nvSpPr>
            <p:cNvPr id="25" name="矩形 24"/>
            <p:cNvSpPr/>
            <p:nvPr/>
          </p:nvSpPr>
          <p:spPr>
            <a:xfrm>
              <a:off x="934400" y="963997"/>
              <a:ext cx="45719" cy="371466"/>
            </a:xfrm>
            <a:prstGeom prst="rect">
              <a:avLst/>
            </a:prstGeom>
            <a:solidFill>
              <a:srgbClr val="0E41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/>
            </a:p>
          </p:txBody>
        </p:sp>
      </p:grpSp>
      <p:sp>
        <p:nvSpPr>
          <p:cNvPr id="27" name="文本框 26"/>
          <p:cNvSpPr txBox="1"/>
          <p:nvPr/>
        </p:nvSpPr>
        <p:spPr>
          <a:xfrm>
            <a:off x="-23329" y="1120580"/>
            <a:ext cx="61113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/>
              <a:t>  </a:t>
            </a:r>
            <a:r>
              <a:rPr lang="zh-CN" altLang="zh-CN" b="1" dirty="0"/>
              <a:t>输入文件的总体结构是什么？</a:t>
            </a:r>
            <a:endParaRPr lang="zh-CN" altLang="en-US" dirty="0"/>
          </a:p>
        </p:txBody>
      </p:sp>
      <p:sp>
        <p:nvSpPr>
          <p:cNvPr id="38" name="文本框 37"/>
          <p:cNvSpPr txBox="1"/>
          <p:nvPr/>
        </p:nvSpPr>
        <p:spPr>
          <a:xfrm>
            <a:off x="3417384" y="1060607"/>
            <a:ext cx="614753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zh-CN" altLang="zh-CN" dirty="0">
                <a:latin typeface="+mn-lt"/>
              </a:rPr>
              <a:t>问题：</a:t>
            </a:r>
          </a:p>
          <a:p>
            <a:pPr rtl="0">
              <a:buNone/>
            </a:pPr>
            <a:r>
              <a:rPr lang="zh-CN" altLang="zh-CN" dirty="0">
                <a:latin typeface="+mn-lt"/>
              </a:rPr>
              <a:t>raw_states.json 只是一次状态快照</a:t>
            </a:r>
            <a:r>
              <a:rPr lang="en-US" altLang="zh-CN" dirty="0">
                <a:latin typeface="+mn-lt"/>
              </a:rPr>
              <a:t>,</a:t>
            </a:r>
            <a:r>
              <a:rPr lang="zh-CN" altLang="zh-CN" dirty="0">
                <a:latin typeface="+mn-lt"/>
              </a:rPr>
              <a:t>存在字段缺失、接口延迟和异常值，不能直接视为完整当前态势表</a:t>
            </a:r>
            <a:r>
              <a:rPr lang="en-US" altLang="zh-CN" dirty="0">
                <a:latin typeface="+mn-lt"/>
              </a:rPr>
              <a:t>,</a:t>
            </a:r>
            <a:r>
              <a:rPr lang="zh-CN" altLang="en-US" dirty="0">
                <a:latin typeface="+mn-lt"/>
              </a:rPr>
              <a:t>设计流程：</a:t>
            </a:r>
            <a:endParaRPr lang="en-US" altLang="zh-CN" dirty="0">
              <a:latin typeface="+mn-lt"/>
            </a:endParaRPr>
          </a:p>
          <a:p>
            <a:pPr rtl="0">
              <a:buNone/>
            </a:pPr>
            <a:endParaRPr lang="zh-CN" altLang="zh-CN" dirty="0">
              <a:latin typeface="+mn-lt"/>
            </a:endParaRPr>
          </a:p>
          <a:p>
            <a:pPr rtl="0">
              <a:buNone/>
            </a:pPr>
            <a:r>
              <a:rPr lang="zh-CN" altLang="zh-CN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rPr>
              <a:t>OpenSky JSON</a:t>
            </a:r>
          </a:p>
          <a:p>
            <a:pPr rtl="0">
              <a:buNone/>
            </a:pPr>
            <a:r>
              <a:rPr lang="zh-CN" altLang="zh-CN" dirty="0">
                <a:latin typeface="+mn-lt"/>
              </a:rPr>
              <a:t>      ↓</a:t>
            </a:r>
          </a:p>
          <a:p>
            <a:pPr rtl="0">
              <a:buNone/>
            </a:pPr>
            <a:r>
              <a:rPr lang="zh-CN" altLang="zh-CN" dirty="0">
                <a:solidFill>
                  <a:schemeClr val="accent1"/>
                </a:solidFill>
                <a:latin typeface="+mn-lt"/>
              </a:rPr>
              <a:t>解析</a:t>
            </a:r>
            <a:r>
              <a:rPr lang="zh-CN" altLang="zh-CN" dirty="0">
                <a:latin typeface="+mn-lt"/>
              </a:rPr>
              <a:t>字段字典</a:t>
            </a:r>
          </a:p>
          <a:p>
            <a:pPr rtl="0">
              <a:buNone/>
            </a:pPr>
            <a:r>
              <a:rPr lang="zh-CN" altLang="zh-CN" dirty="0">
                <a:latin typeface="+mn-lt"/>
              </a:rPr>
              <a:t>      ↓</a:t>
            </a:r>
          </a:p>
          <a:p>
            <a:pPr rtl="0">
              <a:buNone/>
            </a:pPr>
            <a:r>
              <a:rPr lang="zh-CN" altLang="zh-CN" dirty="0">
                <a:solidFill>
                  <a:schemeClr val="accent1"/>
                </a:solidFill>
                <a:latin typeface="+mn-lt"/>
              </a:rPr>
              <a:t>校验</a:t>
            </a:r>
            <a:r>
              <a:rPr lang="zh-CN" altLang="zh-CN" dirty="0">
                <a:latin typeface="+mn-lt"/>
              </a:rPr>
              <a:t>、时间/高度回退</a:t>
            </a:r>
          </a:p>
          <a:p>
            <a:pPr rtl="0">
              <a:buNone/>
            </a:pPr>
            <a:r>
              <a:rPr lang="zh-CN" altLang="zh-CN" dirty="0">
                <a:latin typeface="+mn-lt"/>
              </a:rPr>
              <a:t>      ↓</a:t>
            </a:r>
          </a:p>
          <a:p>
            <a:pPr rtl="0">
              <a:buNone/>
            </a:pPr>
            <a:r>
              <a:rPr lang="zh-CN" altLang="zh-CN" dirty="0">
                <a:latin typeface="+mn-lt"/>
              </a:rPr>
              <a:t>发送方</a:t>
            </a:r>
            <a:r>
              <a:rPr lang="zh-CN" altLang="zh-CN" dirty="0">
                <a:solidFill>
                  <a:schemeClr val="accent1"/>
                </a:solidFill>
                <a:latin typeface="+mn-lt"/>
              </a:rPr>
              <a:t>内部记录</a:t>
            </a:r>
          </a:p>
          <a:p>
            <a:pPr rtl="0">
              <a:buNone/>
            </a:pPr>
            <a:r>
              <a:rPr lang="zh-CN" altLang="zh-CN" dirty="0">
                <a:latin typeface="+mn-lt"/>
              </a:rPr>
              <a:t>      ↓</a:t>
            </a:r>
          </a:p>
          <a:p>
            <a:pPr rtl="0">
              <a:buNone/>
            </a:pPr>
            <a:r>
              <a:rPr lang="zh-CN" altLang="zh-CN" dirty="0">
                <a:solidFill>
                  <a:schemeClr val="accent1"/>
                </a:solidFill>
                <a:latin typeface="+mn-lt"/>
              </a:rPr>
              <a:t>封装</a:t>
            </a:r>
            <a:r>
              <a:rPr lang="zh-CN" altLang="zh-CN" dirty="0">
                <a:latin typeface="+mn-lt"/>
              </a:rPr>
              <a:t>为 41 字节消息</a:t>
            </a:r>
          </a:p>
          <a:p>
            <a:pPr rtl="0">
              <a:buNone/>
            </a:pPr>
            <a:r>
              <a:rPr lang="zh-CN" altLang="zh-CN" dirty="0">
                <a:latin typeface="+mn-lt"/>
              </a:rPr>
              <a:t>      ↓</a:t>
            </a:r>
          </a:p>
          <a:p>
            <a:pPr rtl="0">
              <a:buNone/>
            </a:pPr>
            <a:r>
              <a:rPr lang="zh-CN" altLang="zh-CN" dirty="0">
                <a:latin typeface="+mn-lt"/>
              </a:rPr>
              <a:t>TeachingLink </a:t>
            </a:r>
            <a:r>
              <a:rPr lang="zh-CN" altLang="zh-CN" dirty="0">
                <a:solidFill>
                  <a:schemeClr val="accent2">
                    <a:lumMod val="75000"/>
                  </a:schemeClr>
                </a:solidFill>
                <a:latin typeface="+mn-lt"/>
              </a:rPr>
              <a:t>教学链路</a:t>
            </a:r>
            <a:endParaRPr lang="zh-CN" altLang="en-US" dirty="0">
              <a:solidFill>
                <a:schemeClr val="accent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1" name="文本框 40"/>
          <p:cNvSpPr txBox="1"/>
          <p:nvPr/>
        </p:nvSpPr>
        <p:spPr>
          <a:xfrm>
            <a:off x="6599634" y="2435767"/>
            <a:ext cx="3694379" cy="43858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dirty="0">
                <a:solidFill>
                  <a:schemeClr val="accent2">
                    <a:lumMod val="75000"/>
                  </a:schemeClr>
                </a:solidFill>
              </a:rPr>
              <a:t>长度/帧头/校验和/保留位检查</a:t>
            </a:r>
            <a:r>
              <a:rPr lang="zh-CN" altLang="en-US" dirty="0">
                <a:solidFill>
                  <a:schemeClr val="accent2">
                    <a:lumMod val="75000"/>
                  </a:schemeClr>
                </a:solidFill>
              </a:rPr>
              <a:t>（校验和解封）</a:t>
            </a:r>
            <a:endParaRPr lang="zh-CN" altLang="zh-CN" dirty="0">
              <a:solidFill>
                <a:schemeClr val="accent2">
                  <a:lumMod val="75000"/>
                </a:schemeClr>
              </a:solidFill>
            </a:endParaRPr>
          </a:p>
          <a:p>
            <a:r>
              <a:rPr lang="zh-CN" altLang="zh-CN" dirty="0"/>
              <a:t>      ↓</a:t>
            </a:r>
          </a:p>
          <a:p>
            <a:r>
              <a:rPr lang="zh-CN" altLang="zh-CN" dirty="0">
                <a:solidFill>
                  <a:schemeClr val="accent6">
                    <a:lumMod val="75000"/>
                  </a:schemeClr>
                </a:solidFill>
              </a:rPr>
              <a:t>接收方内部记录</a:t>
            </a:r>
          </a:p>
          <a:p>
            <a:r>
              <a:rPr lang="zh-CN" altLang="zh-CN" dirty="0"/>
              <a:t>      ↓</a:t>
            </a:r>
          </a:p>
          <a:p>
            <a:r>
              <a:rPr lang="zh-CN" altLang="zh-CN" dirty="0"/>
              <a:t>CSV / SQLite 可选存储</a:t>
            </a:r>
          </a:p>
          <a:p>
            <a:r>
              <a:rPr lang="zh-CN" altLang="zh-CN" dirty="0"/>
              <a:t>      ↓</a:t>
            </a:r>
          </a:p>
          <a:p>
            <a:r>
              <a:rPr lang="zh-CN" altLang="zh-CN" dirty="0">
                <a:solidFill>
                  <a:schemeClr val="accent6">
                    <a:lumMod val="75000"/>
                  </a:schemeClr>
                </a:solidFill>
              </a:rPr>
              <a:t>航迹生成 → </a:t>
            </a:r>
            <a:r>
              <a:rPr lang="zh-CN" altLang="en-US" dirty="0">
                <a:solidFill>
                  <a:schemeClr val="accent6">
                    <a:lumMod val="75000"/>
                  </a:schemeClr>
                </a:solidFill>
              </a:rPr>
              <a:t>当前态势</a:t>
            </a:r>
            <a:endParaRPr lang="en-US" altLang="zh-CN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en-US" altLang="zh-CN" dirty="0"/>
              <a:t>                         </a:t>
            </a:r>
            <a:r>
              <a:rPr lang="zh-CN" altLang="zh-CN" dirty="0"/>
              <a:t>↓</a:t>
            </a:r>
            <a:endParaRPr lang="en-US" altLang="zh-CN" dirty="0">
              <a:solidFill>
                <a:schemeClr val="accent6">
                  <a:lumMod val="75000"/>
                </a:schemeClr>
              </a:solidFill>
            </a:endParaRPr>
          </a:p>
          <a:p>
            <a:pPr>
              <a:lnSpc>
                <a:spcPct val="150000"/>
              </a:lnSpc>
            </a:pPr>
            <a:r>
              <a:rPr lang="zh-CN" altLang="zh-CN" dirty="0"/>
              <a:t>语义映射与⼈⼯核验</a:t>
            </a:r>
            <a:r>
              <a:rPr lang="zh-CN" altLang="en-US" dirty="0"/>
              <a:t>（</a:t>
            </a:r>
            <a:r>
              <a:rPr lang="zh-CN" altLang="zh-CN" dirty="0"/>
              <a:t> 输出：统⼀态势模型</a:t>
            </a:r>
            <a:r>
              <a:rPr lang="zh-CN" altLang="en-US" dirty="0"/>
              <a:t>）</a:t>
            </a:r>
            <a:r>
              <a:rPr lang="zh-CN" altLang="zh-CN" dirty="0">
                <a:solidFill>
                  <a:schemeClr val="accent6">
                    <a:lumMod val="75000"/>
                  </a:schemeClr>
                </a:solidFill>
              </a:rPr>
              <a:t>→ </a:t>
            </a:r>
            <a:r>
              <a:rPr lang="zh-CN" altLang="zh-CN" dirty="0"/>
              <a:t>⼀致性检查</a:t>
            </a:r>
            <a:br>
              <a:rPr lang="en-US" altLang="zh-CN" dirty="0"/>
            </a:br>
            <a:r>
              <a:rPr lang="en-US" altLang="zh-CN" dirty="0"/>
              <a:t>                            </a:t>
            </a:r>
            <a:r>
              <a:rPr lang="zh-CN" altLang="zh-CN" dirty="0"/>
              <a:t>↓</a:t>
            </a:r>
            <a:endParaRPr lang="en-US" altLang="zh-CN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zh-CN" altLang="en-US" dirty="0"/>
              <a:t>                       </a:t>
            </a:r>
            <a:r>
              <a:rPr lang="zh-CN" altLang="en-US" dirty="0">
                <a:solidFill>
                  <a:schemeClr val="accent6">
                    <a:lumMod val="75000"/>
                  </a:schemeClr>
                </a:solidFill>
              </a:rPr>
              <a:t>最终输出</a:t>
            </a:r>
            <a:br>
              <a:rPr lang="en-US" altLang="zh-CN" dirty="0"/>
            </a:br>
            <a:endParaRPr lang="zh-CN" altLang="zh-CN" dirty="0">
              <a:solidFill>
                <a:schemeClr val="accent6">
                  <a:lumMod val="75000"/>
                </a:schemeClr>
              </a:solidFill>
              <a:effectLst/>
            </a:endParaRPr>
          </a:p>
        </p:txBody>
      </p:sp>
      <p:cxnSp>
        <p:nvCxnSpPr>
          <p:cNvPr id="42" name="直接箭头连接符 41"/>
          <p:cNvCxnSpPr/>
          <p:nvPr/>
        </p:nvCxnSpPr>
        <p:spPr>
          <a:xfrm flipV="1">
            <a:off x="6017790" y="2780815"/>
            <a:ext cx="581660" cy="229235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lg" len="lg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6" name="文本框 45"/>
          <p:cNvSpPr txBox="1"/>
          <p:nvPr/>
        </p:nvSpPr>
        <p:spPr>
          <a:xfrm>
            <a:off x="258285" y="6433132"/>
            <a:ext cx="614753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zh-CN" altLang="zh-CN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rPr>
              <a:t>TeachingLink 是课程设计的教学协议，不是真实装备协议或行业标准。</a:t>
            </a:r>
            <a:endParaRPr lang="zh-CN" altLang="zh-CN" sz="1400" dirty="0">
              <a:solidFill>
                <a:schemeClr val="tx1">
                  <a:lumMod val="65000"/>
                  <a:lumOff val="35000"/>
                </a:schemeClr>
              </a:solidFill>
              <a:latin typeface="Courier New" panose="02070309020205020404" pitchFamily="49" charset="0"/>
            </a:endParaRPr>
          </a:p>
        </p:txBody>
      </p:sp>
      <p:sp>
        <p:nvSpPr>
          <p:cNvPr id="73" name="文本框 72"/>
          <p:cNvSpPr txBox="1"/>
          <p:nvPr/>
        </p:nvSpPr>
        <p:spPr>
          <a:xfrm>
            <a:off x="3472180" y="5455285"/>
            <a:ext cx="1847850" cy="953135"/>
          </a:xfrm>
          <a:prstGeom prst="rect">
            <a:avLst/>
          </a:prstGeom>
          <a:noFill/>
          <a:ln w="12700" cmpd="sng">
            <a:solidFill>
              <a:schemeClr val="accent1">
                <a:shade val="50000"/>
              </a:schemeClr>
            </a:solidFill>
            <a:prstDash val="solid"/>
          </a:ln>
        </p:spPr>
        <p:txBody>
          <a:bodyPr wrap="square" rtlCol="0">
            <a:spAutoFit/>
          </a:bodyPr>
          <a:lstStyle/>
          <a:p>
            <a:pPr lvl="0"/>
            <a:r>
              <a:rPr lang="zh-CN" altLang="zh-CN" sz="14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外部输入</a:t>
            </a:r>
            <a:endParaRPr lang="zh-CN" altLang="zh-CN" sz="1200" dirty="0"/>
          </a:p>
          <a:p>
            <a:pPr lvl="0"/>
            <a:r>
              <a:rPr lang="zh-CN" altLang="zh-CN" sz="1400" dirty="0">
                <a:solidFill>
                  <a:schemeClr val="accent1"/>
                </a:solidFill>
              </a:rPr>
              <a:t>发送方</a:t>
            </a:r>
            <a:br>
              <a:rPr lang="zh-CN" altLang="zh-CN" sz="900" dirty="0"/>
            </a:br>
            <a:r>
              <a:rPr lang="zh-CN" altLang="zh-CN" sz="1400" dirty="0">
                <a:solidFill>
                  <a:schemeClr val="accent2">
                    <a:lumMod val="75000"/>
                  </a:schemeClr>
                </a:solidFill>
              </a:rPr>
              <a:t>链路和接收方</a:t>
            </a:r>
            <a:br>
              <a:rPr lang="zh-CN" altLang="zh-CN" sz="900" dirty="0"/>
            </a:br>
            <a:r>
              <a:rPr lang="zh-CN" altLang="zh-CN" sz="1400" dirty="0">
                <a:solidFill>
                  <a:schemeClr val="accent6">
                    <a:lumMod val="75000"/>
                  </a:schemeClr>
                </a:solidFill>
              </a:rPr>
              <a:t>应用输出</a:t>
            </a:r>
          </a:p>
        </p:txBody>
      </p:sp>
      <p:pic>
        <p:nvPicPr>
          <p:cNvPr id="78" name="图片 7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70" y="1516147"/>
            <a:ext cx="3048157" cy="4692891"/>
          </a:xfrm>
          <a:prstGeom prst="rect">
            <a:avLst/>
          </a:prstGeom>
        </p:spPr>
      </p:pic>
      <p:cxnSp>
        <p:nvCxnSpPr>
          <p:cNvPr id="40" name="直接箭头连接符 39"/>
          <p:cNvCxnSpPr/>
          <p:nvPr/>
        </p:nvCxnSpPr>
        <p:spPr>
          <a:xfrm flipV="1">
            <a:off x="1557706" y="1615459"/>
            <a:ext cx="1974955" cy="1645519"/>
          </a:xfrm>
          <a:prstGeom prst="straightConnector1">
            <a:avLst/>
          </a:prstGeom>
          <a:ln w="15875">
            <a:solidFill>
              <a:srgbClr val="FF0000"/>
            </a:solidFill>
            <a:tailEnd type="triangle" w="lg" len="lg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grpSp>
        <p:nvGrpSpPr>
          <p:cNvPr id="71" name="组合 70"/>
          <p:cNvGrpSpPr/>
          <p:nvPr/>
        </p:nvGrpSpPr>
        <p:grpSpPr>
          <a:xfrm>
            <a:off x="0" y="0"/>
            <a:ext cx="12192000" cy="711200"/>
            <a:chOff x="0" y="1"/>
            <a:chExt cx="12192000" cy="711200"/>
          </a:xfrm>
        </p:grpSpPr>
        <p:sp>
          <p:nvSpPr>
            <p:cNvPr id="72" name="矩形 71"/>
            <p:cNvSpPr/>
            <p:nvPr/>
          </p:nvSpPr>
          <p:spPr>
            <a:xfrm>
              <a:off x="0" y="1"/>
              <a:ext cx="12192000" cy="650874"/>
            </a:xfrm>
            <a:prstGeom prst="rect">
              <a:avLst/>
            </a:prstGeom>
            <a:solidFill>
              <a:srgbClr val="0E41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28" name="组合 27"/>
            <p:cNvGrpSpPr/>
            <p:nvPr/>
          </p:nvGrpSpPr>
          <p:grpSpPr>
            <a:xfrm>
              <a:off x="5320779" y="159473"/>
              <a:ext cx="6318336" cy="368300"/>
              <a:chOff x="4977879" y="299173"/>
              <a:chExt cx="6318336" cy="368300"/>
            </a:xfrm>
          </p:grpSpPr>
          <p:sp>
            <p:nvSpPr>
              <p:cNvPr id="76" name="文本框 75"/>
              <p:cNvSpPr txBox="1"/>
              <p:nvPr/>
            </p:nvSpPr>
            <p:spPr>
              <a:xfrm>
                <a:off x="5223501" y="299173"/>
                <a:ext cx="496570" cy="3683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solidFill>
                      <a:schemeClr val="bg1"/>
                    </a:solidFill>
                    <a:latin typeface="思源黑体 CN Regular" panose="020B0500000000000000" pitchFamily="34" charset="-122"/>
                    <a:ea typeface="思源黑体 CN Regular" panose="020B0500000000000000" pitchFamily="34" charset="-122"/>
                  </a:rPr>
                  <a:t>M1</a:t>
                </a:r>
              </a:p>
            </p:txBody>
          </p:sp>
          <p:sp>
            <p:nvSpPr>
              <p:cNvPr id="77" name="文本框 76"/>
              <p:cNvSpPr txBox="1"/>
              <p:nvPr/>
            </p:nvSpPr>
            <p:spPr>
              <a:xfrm>
                <a:off x="6950981" y="299173"/>
                <a:ext cx="496570" cy="3683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solidFill>
                      <a:schemeClr val="bg1"/>
                    </a:solidFill>
                    <a:latin typeface="思源黑体 CN Regular" panose="020B0500000000000000" pitchFamily="34" charset="-122"/>
                    <a:ea typeface="思源黑体 CN Regular" panose="020B0500000000000000" pitchFamily="34" charset="-122"/>
                  </a:rPr>
                  <a:t>M2</a:t>
                </a:r>
              </a:p>
            </p:txBody>
          </p:sp>
          <p:sp>
            <p:nvSpPr>
              <p:cNvPr id="29" name="文本框 28"/>
              <p:cNvSpPr txBox="1"/>
              <p:nvPr/>
            </p:nvSpPr>
            <p:spPr>
              <a:xfrm>
                <a:off x="8678461" y="299173"/>
                <a:ext cx="496570" cy="3683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solidFill>
                      <a:schemeClr val="bg1"/>
                    </a:solidFill>
                    <a:latin typeface="思源黑体 CN Regular" panose="020B0500000000000000" pitchFamily="34" charset="-122"/>
                    <a:ea typeface="思源黑体 CN Regular" panose="020B0500000000000000" pitchFamily="34" charset="-122"/>
                  </a:rPr>
                  <a:t>M3</a:t>
                </a:r>
              </a:p>
            </p:txBody>
          </p:sp>
          <p:sp>
            <p:nvSpPr>
              <p:cNvPr id="79" name="文本框 78"/>
              <p:cNvSpPr txBox="1"/>
              <p:nvPr/>
            </p:nvSpPr>
            <p:spPr>
              <a:xfrm>
                <a:off x="10405945" y="299173"/>
                <a:ext cx="890270" cy="3683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solidFill>
                      <a:schemeClr val="bg1"/>
                    </a:solidFill>
                    <a:latin typeface="思源黑体 CN Regular" panose="020B0500000000000000" pitchFamily="34" charset="-122"/>
                    <a:ea typeface="思源黑体 CN Regular" panose="020B0500000000000000" pitchFamily="34" charset="-122"/>
                  </a:rPr>
                  <a:t>M4-M6</a:t>
                </a:r>
              </a:p>
            </p:txBody>
          </p:sp>
          <p:cxnSp>
            <p:nvCxnSpPr>
              <p:cNvPr id="81" name="直接连接符 80"/>
              <p:cNvCxnSpPr/>
              <p:nvPr/>
            </p:nvCxnSpPr>
            <p:spPr>
              <a:xfrm>
                <a:off x="6705359" y="365275"/>
                <a:ext cx="0" cy="301705"/>
              </a:xfrm>
              <a:prstGeom prst="line">
                <a:avLst/>
              </a:prstGeom>
              <a:ln w="31750"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直接连接符 81"/>
              <p:cNvCxnSpPr/>
              <p:nvPr/>
            </p:nvCxnSpPr>
            <p:spPr>
              <a:xfrm>
                <a:off x="4977879" y="365275"/>
                <a:ext cx="0" cy="301705"/>
              </a:xfrm>
              <a:prstGeom prst="line">
                <a:avLst/>
              </a:prstGeom>
              <a:ln w="31750"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直接连接符 82"/>
              <p:cNvCxnSpPr/>
              <p:nvPr/>
            </p:nvCxnSpPr>
            <p:spPr>
              <a:xfrm>
                <a:off x="8432839" y="365275"/>
                <a:ext cx="0" cy="301705"/>
              </a:xfrm>
              <a:prstGeom prst="line">
                <a:avLst/>
              </a:prstGeom>
              <a:ln w="31750"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直接连接符 83"/>
              <p:cNvCxnSpPr/>
              <p:nvPr/>
            </p:nvCxnSpPr>
            <p:spPr>
              <a:xfrm>
                <a:off x="10160319" y="365275"/>
                <a:ext cx="0" cy="301705"/>
              </a:xfrm>
              <a:prstGeom prst="line">
                <a:avLst/>
              </a:prstGeom>
              <a:ln w="31750"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4" name="等腰三角形 73"/>
            <p:cNvSpPr/>
            <p:nvPr/>
          </p:nvSpPr>
          <p:spPr>
            <a:xfrm>
              <a:off x="5709460" y="561975"/>
              <a:ext cx="818588" cy="149226"/>
            </a:xfrm>
            <a:prstGeom prst="triangle">
              <a:avLst>
                <a:gd name="adj" fmla="val 50385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aphicFrame>
        <p:nvGraphicFramePr>
          <p:cNvPr id="4" name="表格 3"/>
          <p:cNvGraphicFramePr/>
          <p:nvPr/>
        </p:nvGraphicFramePr>
        <p:xfrm>
          <a:off x="10346690" y="626745"/>
          <a:ext cx="180975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4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48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/>
                        <a:t>分工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/>
                        <a:t>成员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/>
                        <a:t>M2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/>
                        <a:t>倪天鹭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/>
                        <a:t>M3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/>
                        <a:t>宋星叶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/>
                        <a:t>M4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/>
                        <a:t>唐丽蓉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/>
                        <a:t>M5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/>
                        <a:t>赵熙焙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5" name="图片 4">
            <a:extLst>
              <a:ext uri="{FF2B5EF4-FFF2-40B4-BE49-F238E27FC236}">
                <a16:creationId xmlns:a16="http://schemas.microsoft.com/office/drawing/2014/main" id="{28E4838A-7F86-C429-0E09-ADC00F5F87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6184" y="2769091"/>
            <a:ext cx="2080402" cy="201751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Object"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组合 38"/>
          <p:cNvGrpSpPr/>
          <p:nvPr/>
        </p:nvGrpSpPr>
        <p:grpSpPr>
          <a:xfrm>
            <a:off x="0" y="1"/>
            <a:ext cx="12192000" cy="711200"/>
            <a:chOff x="0" y="1"/>
            <a:chExt cx="12192000" cy="711200"/>
          </a:xfrm>
        </p:grpSpPr>
        <p:sp>
          <p:nvSpPr>
            <p:cNvPr id="40" name="矩形 39"/>
            <p:cNvSpPr/>
            <p:nvPr/>
          </p:nvSpPr>
          <p:spPr>
            <a:xfrm>
              <a:off x="0" y="1"/>
              <a:ext cx="12192000" cy="650874"/>
            </a:xfrm>
            <a:prstGeom prst="rect">
              <a:avLst/>
            </a:prstGeom>
            <a:solidFill>
              <a:srgbClr val="0E41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41" name="组合 40"/>
            <p:cNvGrpSpPr/>
            <p:nvPr/>
          </p:nvGrpSpPr>
          <p:grpSpPr>
            <a:xfrm>
              <a:off x="5320779" y="159473"/>
              <a:ext cx="6318336" cy="368300"/>
              <a:chOff x="4977879" y="299173"/>
              <a:chExt cx="6318336" cy="368300"/>
            </a:xfrm>
          </p:grpSpPr>
          <p:sp>
            <p:nvSpPr>
              <p:cNvPr id="44" name="文本框 43"/>
              <p:cNvSpPr txBox="1"/>
              <p:nvPr/>
            </p:nvSpPr>
            <p:spPr>
              <a:xfrm>
                <a:off x="5223501" y="299173"/>
                <a:ext cx="496570" cy="3683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solidFill>
                      <a:schemeClr val="bg1"/>
                    </a:solidFill>
                    <a:latin typeface="思源黑体 CN Regular" panose="020B0500000000000000" pitchFamily="34" charset="-122"/>
                    <a:ea typeface="思源黑体 CN Regular" panose="020B0500000000000000" pitchFamily="34" charset="-122"/>
                  </a:rPr>
                  <a:t>M1</a:t>
                </a:r>
              </a:p>
            </p:txBody>
          </p:sp>
          <p:sp>
            <p:nvSpPr>
              <p:cNvPr id="45" name="文本框 44"/>
              <p:cNvSpPr txBox="1"/>
              <p:nvPr/>
            </p:nvSpPr>
            <p:spPr>
              <a:xfrm>
                <a:off x="6950981" y="299173"/>
                <a:ext cx="496570" cy="3683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solidFill>
                      <a:schemeClr val="bg1"/>
                    </a:solidFill>
                    <a:latin typeface="思源黑体 CN Regular" panose="020B0500000000000000" pitchFamily="34" charset="-122"/>
                    <a:ea typeface="思源黑体 CN Regular" panose="020B0500000000000000" pitchFamily="34" charset="-122"/>
                  </a:rPr>
                  <a:t>M2</a:t>
                </a:r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8678461" y="299173"/>
                <a:ext cx="496570" cy="3683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solidFill>
                      <a:schemeClr val="bg1"/>
                    </a:solidFill>
                    <a:latin typeface="思源黑体 CN Regular" panose="020B0500000000000000" pitchFamily="34" charset="-122"/>
                    <a:ea typeface="思源黑体 CN Regular" panose="020B0500000000000000" pitchFamily="34" charset="-122"/>
                  </a:rPr>
                  <a:t>M3</a:t>
                </a:r>
              </a:p>
            </p:txBody>
          </p:sp>
          <p:sp>
            <p:nvSpPr>
              <p:cNvPr id="2" name="文本框 1"/>
              <p:cNvSpPr txBox="1"/>
              <p:nvPr/>
            </p:nvSpPr>
            <p:spPr>
              <a:xfrm>
                <a:off x="10405945" y="299173"/>
                <a:ext cx="890270" cy="3683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solidFill>
                      <a:schemeClr val="bg1"/>
                    </a:solidFill>
                    <a:latin typeface="思源黑体 CN Regular" panose="020B0500000000000000" pitchFamily="34" charset="-122"/>
                    <a:ea typeface="思源黑体 CN Regular" panose="020B0500000000000000" pitchFamily="34" charset="-122"/>
                  </a:rPr>
                  <a:t>M4-M6</a:t>
                </a:r>
              </a:p>
            </p:txBody>
          </p:sp>
          <p:cxnSp>
            <p:nvCxnSpPr>
              <p:cNvPr id="4" name="直接连接符 3"/>
              <p:cNvCxnSpPr/>
              <p:nvPr/>
            </p:nvCxnSpPr>
            <p:spPr>
              <a:xfrm>
                <a:off x="6705359" y="365275"/>
                <a:ext cx="0" cy="301705"/>
              </a:xfrm>
              <a:prstGeom prst="line">
                <a:avLst/>
              </a:prstGeom>
              <a:ln w="31750"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" name="直接连接符 4"/>
              <p:cNvCxnSpPr/>
              <p:nvPr/>
            </p:nvCxnSpPr>
            <p:spPr>
              <a:xfrm>
                <a:off x="4977879" y="365275"/>
                <a:ext cx="0" cy="301705"/>
              </a:xfrm>
              <a:prstGeom prst="line">
                <a:avLst/>
              </a:prstGeom>
              <a:ln w="31750"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直接连接符 50"/>
              <p:cNvCxnSpPr/>
              <p:nvPr/>
            </p:nvCxnSpPr>
            <p:spPr>
              <a:xfrm>
                <a:off x="8432839" y="365275"/>
                <a:ext cx="0" cy="301705"/>
              </a:xfrm>
              <a:prstGeom prst="line">
                <a:avLst/>
              </a:prstGeom>
              <a:ln w="31750"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直接连接符 5"/>
              <p:cNvCxnSpPr/>
              <p:nvPr/>
            </p:nvCxnSpPr>
            <p:spPr>
              <a:xfrm>
                <a:off x="10160319" y="365275"/>
                <a:ext cx="0" cy="301705"/>
              </a:xfrm>
              <a:prstGeom prst="line">
                <a:avLst/>
              </a:prstGeom>
              <a:ln w="31750"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2" name="等腰三角形 41"/>
            <p:cNvSpPr/>
            <p:nvPr/>
          </p:nvSpPr>
          <p:spPr>
            <a:xfrm>
              <a:off x="7464152" y="561975"/>
              <a:ext cx="818588" cy="149226"/>
            </a:xfrm>
            <a:prstGeom prst="triangle">
              <a:avLst>
                <a:gd name="adj" fmla="val 50385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0" name="文本框 82"/>
          <p:cNvSpPr txBox="1"/>
          <p:nvPr/>
        </p:nvSpPr>
        <p:spPr>
          <a:xfrm>
            <a:off x="551298" y="1513750"/>
            <a:ext cx="1954586" cy="40011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>
            <a:defPPr>
              <a:defRPr lang="zh-CN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2000" b="1" dirty="0">
                <a:solidFill>
                  <a:srgbClr val="4472C4"/>
                </a:solidFill>
                <a:cs typeface="+mn-ea"/>
                <a:sym typeface="+mn-lt"/>
              </a:rPr>
              <a:t>输入</a:t>
            </a:r>
            <a:r>
              <a:rPr lang="en-US" altLang="zh-CN" sz="2000" b="1" dirty="0">
                <a:solidFill>
                  <a:srgbClr val="4472C4"/>
                </a:solidFill>
                <a:cs typeface="+mn-ea"/>
                <a:sym typeface="+mn-lt"/>
              </a:rPr>
              <a:t>+</a:t>
            </a:r>
            <a:r>
              <a:rPr lang="zh-CN" altLang="en-US" sz="2000" b="1" dirty="0">
                <a:solidFill>
                  <a:srgbClr val="4472C4"/>
                </a:solidFill>
                <a:cs typeface="+mn-ea"/>
                <a:sym typeface="+mn-lt"/>
              </a:rPr>
              <a:t>核心函数</a:t>
            </a:r>
            <a:endParaRPr kumimoji="0" lang="zh-CN" altLang="en-US" sz="2000" b="1" i="0" u="none" strike="noStrike" kern="1200" cap="none" spc="0" normalizeH="0" baseline="0" noProof="0" dirty="0">
              <a:ln>
                <a:noFill/>
              </a:ln>
              <a:solidFill>
                <a:srgbClr val="4472C4"/>
              </a:solidFill>
              <a:effectLst/>
              <a:uLnTx/>
              <a:uFillTx/>
              <a:cs typeface="+mn-ea"/>
              <a:sym typeface="+mn-lt"/>
            </a:endParaRPr>
          </a:p>
        </p:txBody>
      </p:sp>
      <p:sp>
        <p:nvSpPr>
          <p:cNvPr id="30" name="文本框 82"/>
          <p:cNvSpPr txBox="1"/>
          <p:nvPr/>
        </p:nvSpPr>
        <p:spPr>
          <a:xfrm>
            <a:off x="540503" y="3748747"/>
            <a:ext cx="1735981" cy="40011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>
            <a:defPPr>
              <a:defRPr lang="zh-CN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zh-CN" altLang="en-US" sz="2000" b="1" dirty="0">
                <a:solidFill>
                  <a:srgbClr val="4472C4"/>
                </a:solidFill>
                <a:cs typeface="+mn-ea"/>
                <a:sym typeface="+mn-lt"/>
              </a:rPr>
              <a:t>关键机制</a:t>
            </a:r>
          </a:p>
        </p:txBody>
      </p:sp>
      <p:sp>
        <p:nvSpPr>
          <p:cNvPr id="32" name="iconfont-1192-742827"/>
          <p:cNvSpPr/>
          <p:nvPr/>
        </p:nvSpPr>
        <p:spPr>
          <a:xfrm>
            <a:off x="283962" y="1576488"/>
            <a:ext cx="267336" cy="268131"/>
          </a:xfrm>
          <a:custGeom>
            <a:avLst/>
            <a:gdLst>
              <a:gd name="T0" fmla="*/ 8264 w 11898"/>
              <a:gd name="T1" fmla="*/ 11934 h 11934"/>
              <a:gd name="T2" fmla="*/ 6604 w 11898"/>
              <a:gd name="T3" fmla="*/ 7046 h 11934"/>
              <a:gd name="T4" fmla="*/ 7084 w 11898"/>
              <a:gd name="T5" fmla="*/ 6641 h 11934"/>
              <a:gd name="T6" fmla="*/ 11898 w 11898"/>
              <a:gd name="T7" fmla="*/ 8301 h 11934"/>
              <a:gd name="T8" fmla="*/ 10238 w 11898"/>
              <a:gd name="T9" fmla="*/ 11934 h 11934"/>
              <a:gd name="T10" fmla="*/ 7323 w 11898"/>
              <a:gd name="T11" fmla="*/ 10274 h 11934"/>
              <a:gd name="T12" fmla="*/ 10219 w 11898"/>
              <a:gd name="T13" fmla="*/ 11197 h 11934"/>
              <a:gd name="T14" fmla="*/ 11142 w 11898"/>
              <a:gd name="T15" fmla="*/ 8301 h 11934"/>
              <a:gd name="T16" fmla="*/ 7323 w 11898"/>
              <a:gd name="T17" fmla="*/ 7378 h 11934"/>
              <a:gd name="T18" fmla="*/ 1716 w 11898"/>
              <a:gd name="T19" fmla="*/ 11934 h 11934"/>
              <a:gd name="T20" fmla="*/ 0 w 11898"/>
              <a:gd name="T21" fmla="*/ 8374 h 11934"/>
              <a:gd name="T22" fmla="*/ 4815 w 11898"/>
              <a:gd name="T23" fmla="*/ 6659 h 11934"/>
              <a:gd name="T24" fmla="*/ 5294 w 11898"/>
              <a:gd name="T25" fmla="*/ 7065 h 11934"/>
              <a:gd name="T26" fmla="*/ 3560 w 11898"/>
              <a:gd name="T27" fmla="*/ 11934 h 11934"/>
              <a:gd name="T28" fmla="*/ 738 w 11898"/>
              <a:gd name="T29" fmla="*/ 8356 h 11934"/>
              <a:gd name="T30" fmla="*/ 1716 w 11898"/>
              <a:gd name="T31" fmla="*/ 11178 h 11934"/>
              <a:gd name="T32" fmla="*/ 4538 w 11898"/>
              <a:gd name="T33" fmla="*/ 10201 h 11934"/>
              <a:gd name="T34" fmla="*/ 1716 w 11898"/>
              <a:gd name="T35" fmla="*/ 7378 h 11934"/>
              <a:gd name="T36" fmla="*/ 1624 w 11898"/>
              <a:gd name="T37" fmla="*/ 5312 h 11934"/>
              <a:gd name="T38" fmla="*/ 0 w 11898"/>
              <a:gd name="T39" fmla="*/ 1642 h 11934"/>
              <a:gd name="T40" fmla="*/ 3671 w 11898"/>
              <a:gd name="T41" fmla="*/ 18 h 11934"/>
              <a:gd name="T42" fmla="*/ 5294 w 11898"/>
              <a:gd name="T43" fmla="*/ 4907 h 11934"/>
              <a:gd name="T44" fmla="*/ 4815 w 11898"/>
              <a:gd name="T45" fmla="*/ 5312 h 11934"/>
              <a:gd name="T46" fmla="*/ 720 w 11898"/>
              <a:gd name="T47" fmla="*/ 1623 h 11934"/>
              <a:gd name="T48" fmla="*/ 1605 w 11898"/>
              <a:gd name="T49" fmla="*/ 4575 h 11934"/>
              <a:gd name="T50" fmla="*/ 4538 w 11898"/>
              <a:gd name="T51" fmla="*/ 1642 h 11934"/>
              <a:gd name="T52" fmla="*/ 1605 w 11898"/>
              <a:gd name="T53" fmla="*/ 756 h 11934"/>
              <a:gd name="T54" fmla="*/ 10219 w 11898"/>
              <a:gd name="T55" fmla="*/ 5312 h 11934"/>
              <a:gd name="T56" fmla="*/ 6899 w 11898"/>
              <a:gd name="T57" fmla="*/ 5275 h 11934"/>
              <a:gd name="T58" fmla="*/ 6586 w 11898"/>
              <a:gd name="T59" fmla="*/ 1679 h 11934"/>
              <a:gd name="T60" fmla="*/ 10219 w 11898"/>
              <a:gd name="T61" fmla="*/ 0 h 11934"/>
              <a:gd name="T62" fmla="*/ 11898 w 11898"/>
              <a:gd name="T63" fmla="*/ 3634 h 11934"/>
              <a:gd name="T64" fmla="*/ 7323 w 11898"/>
              <a:gd name="T65" fmla="*/ 4574 h 11934"/>
              <a:gd name="T66" fmla="*/ 11142 w 11898"/>
              <a:gd name="T67" fmla="*/ 3634 h 11934"/>
              <a:gd name="T68" fmla="*/ 10201 w 11898"/>
              <a:gd name="T69" fmla="*/ 738 h 11934"/>
              <a:gd name="T70" fmla="*/ 7305 w 11898"/>
              <a:gd name="T71" fmla="*/ 1678 h 11934"/>
              <a:gd name="T72" fmla="*/ 7323 w 11898"/>
              <a:gd name="T73" fmla="*/ 4574 h 1193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</a:cxnLst>
            <a:rect l="0" t="0" r="r" b="b"/>
            <a:pathLst>
              <a:path w="11898" h="11934">
                <a:moveTo>
                  <a:pt x="10238" y="11934"/>
                </a:moveTo>
                <a:lnTo>
                  <a:pt x="8264" y="11934"/>
                </a:lnTo>
                <a:cubicBezTo>
                  <a:pt x="7342" y="11934"/>
                  <a:pt x="6604" y="11197"/>
                  <a:pt x="6604" y="10274"/>
                </a:cubicBezTo>
                <a:lnTo>
                  <a:pt x="6604" y="7046"/>
                </a:lnTo>
                <a:cubicBezTo>
                  <a:pt x="6604" y="6862"/>
                  <a:pt x="6733" y="6714"/>
                  <a:pt x="6918" y="6677"/>
                </a:cubicBezTo>
                <a:cubicBezTo>
                  <a:pt x="6973" y="6659"/>
                  <a:pt x="7028" y="6641"/>
                  <a:pt x="7084" y="6641"/>
                </a:cubicBezTo>
                <a:lnTo>
                  <a:pt x="10238" y="6641"/>
                </a:lnTo>
                <a:cubicBezTo>
                  <a:pt x="11160" y="6641"/>
                  <a:pt x="11898" y="7378"/>
                  <a:pt x="11898" y="8301"/>
                </a:cubicBezTo>
                <a:lnTo>
                  <a:pt x="11898" y="10274"/>
                </a:lnTo>
                <a:cubicBezTo>
                  <a:pt x="11879" y="11178"/>
                  <a:pt x="11142" y="11934"/>
                  <a:pt x="10238" y="11934"/>
                </a:cubicBezTo>
                <a:close/>
                <a:moveTo>
                  <a:pt x="7323" y="7378"/>
                </a:moveTo>
                <a:lnTo>
                  <a:pt x="7323" y="10274"/>
                </a:lnTo>
                <a:cubicBezTo>
                  <a:pt x="7323" y="10772"/>
                  <a:pt x="7729" y="11197"/>
                  <a:pt x="8246" y="11197"/>
                </a:cubicBezTo>
                <a:lnTo>
                  <a:pt x="10219" y="11197"/>
                </a:lnTo>
                <a:cubicBezTo>
                  <a:pt x="10717" y="11197"/>
                  <a:pt x="11142" y="10791"/>
                  <a:pt x="11142" y="10274"/>
                </a:cubicBezTo>
                <a:lnTo>
                  <a:pt x="11142" y="8301"/>
                </a:lnTo>
                <a:cubicBezTo>
                  <a:pt x="11142" y="7803"/>
                  <a:pt x="10736" y="7378"/>
                  <a:pt x="10219" y="7378"/>
                </a:cubicBezTo>
                <a:lnTo>
                  <a:pt x="7323" y="7378"/>
                </a:lnTo>
                <a:close/>
                <a:moveTo>
                  <a:pt x="3560" y="11934"/>
                </a:moveTo>
                <a:lnTo>
                  <a:pt x="1716" y="11934"/>
                </a:lnTo>
                <a:cubicBezTo>
                  <a:pt x="757" y="11934"/>
                  <a:pt x="0" y="11160"/>
                  <a:pt x="0" y="10219"/>
                </a:cubicBezTo>
                <a:lnTo>
                  <a:pt x="0" y="8374"/>
                </a:lnTo>
                <a:cubicBezTo>
                  <a:pt x="0" y="7415"/>
                  <a:pt x="775" y="6659"/>
                  <a:pt x="1716" y="6659"/>
                </a:cubicBezTo>
                <a:lnTo>
                  <a:pt x="4815" y="6659"/>
                </a:lnTo>
                <a:cubicBezTo>
                  <a:pt x="4870" y="6659"/>
                  <a:pt x="4925" y="6677"/>
                  <a:pt x="4981" y="6696"/>
                </a:cubicBezTo>
                <a:cubicBezTo>
                  <a:pt x="5165" y="6714"/>
                  <a:pt x="5294" y="6880"/>
                  <a:pt x="5294" y="7065"/>
                </a:cubicBezTo>
                <a:lnTo>
                  <a:pt x="5294" y="10237"/>
                </a:lnTo>
                <a:cubicBezTo>
                  <a:pt x="5294" y="11160"/>
                  <a:pt x="4519" y="11934"/>
                  <a:pt x="3560" y="11934"/>
                </a:cubicBezTo>
                <a:close/>
                <a:moveTo>
                  <a:pt x="1716" y="7378"/>
                </a:moveTo>
                <a:cubicBezTo>
                  <a:pt x="1181" y="7378"/>
                  <a:pt x="738" y="7821"/>
                  <a:pt x="738" y="8356"/>
                </a:cubicBezTo>
                <a:lnTo>
                  <a:pt x="738" y="10201"/>
                </a:lnTo>
                <a:cubicBezTo>
                  <a:pt x="738" y="10754"/>
                  <a:pt x="1181" y="11178"/>
                  <a:pt x="1716" y="11178"/>
                </a:cubicBezTo>
                <a:lnTo>
                  <a:pt x="3560" y="11178"/>
                </a:lnTo>
                <a:cubicBezTo>
                  <a:pt x="4095" y="11178"/>
                  <a:pt x="4538" y="10736"/>
                  <a:pt x="4538" y="10201"/>
                </a:cubicBezTo>
                <a:lnTo>
                  <a:pt x="4538" y="7378"/>
                </a:lnTo>
                <a:lnTo>
                  <a:pt x="1716" y="7378"/>
                </a:lnTo>
                <a:close/>
                <a:moveTo>
                  <a:pt x="4815" y="5312"/>
                </a:moveTo>
                <a:lnTo>
                  <a:pt x="1624" y="5312"/>
                </a:lnTo>
                <a:cubicBezTo>
                  <a:pt x="720" y="5312"/>
                  <a:pt x="0" y="4593"/>
                  <a:pt x="0" y="3689"/>
                </a:cubicBezTo>
                <a:lnTo>
                  <a:pt x="0" y="1642"/>
                </a:lnTo>
                <a:cubicBezTo>
                  <a:pt x="0" y="738"/>
                  <a:pt x="720" y="18"/>
                  <a:pt x="1624" y="18"/>
                </a:cubicBezTo>
                <a:lnTo>
                  <a:pt x="3671" y="18"/>
                </a:lnTo>
                <a:cubicBezTo>
                  <a:pt x="4575" y="18"/>
                  <a:pt x="5294" y="738"/>
                  <a:pt x="5294" y="1642"/>
                </a:cubicBezTo>
                <a:lnTo>
                  <a:pt x="5294" y="4907"/>
                </a:lnTo>
                <a:cubicBezTo>
                  <a:pt x="5294" y="5091"/>
                  <a:pt x="5165" y="5239"/>
                  <a:pt x="4981" y="5276"/>
                </a:cubicBezTo>
                <a:cubicBezTo>
                  <a:pt x="4925" y="5294"/>
                  <a:pt x="4870" y="5312"/>
                  <a:pt x="4815" y="5312"/>
                </a:cubicBezTo>
                <a:close/>
                <a:moveTo>
                  <a:pt x="1605" y="738"/>
                </a:moveTo>
                <a:cubicBezTo>
                  <a:pt x="1125" y="738"/>
                  <a:pt x="720" y="1144"/>
                  <a:pt x="720" y="1623"/>
                </a:cubicBezTo>
                <a:lnTo>
                  <a:pt x="720" y="3689"/>
                </a:lnTo>
                <a:cubicBezTo>
                  <a:pt x="720" y="4169"/>
                  <a:pt x="1125" y="4575"/>
                  <a:pt x="1605" y="4575"/>
                </a:cubicBezTo>
                <a:lnTo>
                  <a:pt x="4538" y="4575"/>
                </a:lnTo>
                <a:lnTo>
                  <a:pt x="4538" y="1642"/>
                </a:lnTo>
                <a:cubicBezTo>
                  <a:pt x="4538" y="1162"/>
                  <a:pt x="4132" y="756"/>
                  <a:pt x="3653" y="756"/>
                </a:cubicBezTo>
                <a:lnTo>
                  <a:pt x="1605" y="756"/>
                </a:lnTo>
                <a:lnTo>
                  <a:pt x="1605" y="738"/>
                </a:lnTo>
                <a:close/>
                <a:moveTo>
                  <a:pt x="10219" y="5312"/>
                </a:moveTo>
                <a:lnTo>
                  <a:pt x="7065" y="5312"/>
                </a:lnTo>
                <a:cubicBezTo>
                  <a:pt x="7010" y="5312"/>
                  <a:pt x="6954" y="5294"/>
                  <a:pt x="6899" y="5275"/>
                </a:cubicBezTo>
                <a:cubicBezTo>
                  <a:pt x="6715" y="5257"/>
                  <a:pt x="6586" y="5091"/>
                  <a:pt x="6586" y="4907"/>
                </a:cubicBezTo>
                <a:lnTo>
                  <a:pt x="6586" y="1679"/>
                </a:lnTo>
                <a:cubicBezTo>
                  <a:pt x="6586" y="756"/>
                  <a:pt x="7342" y="0"/>
                  <a:pt x="8264" y="0"/>
                </a:cubicBezTo>
                <a:lnTo>
                  <a:pt x="10219" y="0"/>
                </a:lnTo>
                <a:cubicBezTo>
                  <a:pt x="11142" y="0"/>
                  <a:pt x="11898" y="756"/>
                  <a:pt x="11898" y="1679"/>
                </a:cubicBezTo>
                <a:lnTo>
                  <a:pt x="11898" y="3634"/>
                </a:lnTo>
                <a:cubicBezTo>
                  <a:pt x="11880" y="4556"/>
                  <a:pt x="11142" y="5312"/>
                  <a:pt x="10219" y="5312"/>
                </a:cubicBezTo>
                <a:close/>
                <a:moveTo>
                  <a:pt x="7323" y="4574"/>
                </a:moveTo>
                <a:lnTo>
                  <a:pt x="10201" y="4574"/>
                </a:lnTo>
                <a:cubicBezTo>
                  <a:pt x="10717" y="4574"/>
                  <a:pt x="11142" y="4150"/>
                  <a:pt x="11142" y="3634"/>
                </a:cubicBezTo>
                <a:lnTo>
                  <a:pt x="11142" y="1678"/>
                </a:lnTo>
                <a:cubicBezTo>
                  <a:pt x="11142" y="1162"/>
                  <a:pt x="10717" y="738"/>
                  <a:pt x="10201" y="738"/>
                </a:cubicBezTo>
                <a:lnTo>
                  <a:pt x="8246" y="738"/>
                </a:lnTo>
                <a:cubicBezTo>
                  <a:pt x="7729" y="738"/>
                  <a:pt x="7305" y="1162"/>
                  <a:pt x="7305" y="1678"/>
                </a:cubicBezTo>
                <a:lnTo>
                  <a:pt x="7305" y="4574"/>
                </a:lnTo>
                <a:lnTo>
                  <a:pt x="7323" y="4574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+mn-ea"/>
              <a:sym typeface="+mn-lt"/>
            </a:endParaRPr>
          </a:p>
        </p:txBody>
      </p:sp>
      <p:sp>
        <p:nvSpPr>
          <p:cNvPr id="33" name="iconfont-1192-742827"/>
          <p:cNvSpPr/>
          <p:nvPr/>
        </p:nvSpPr>
        <p:spPr>
          <a:xfrm>
            <a:off x="267736" y="3814737"/>
            <a:ext cx="267336" cy="268131"/>
          </a:xfrm>
          <a:custGeom>
            <a:avLst/>
            <a:gdLst>
              <a:gd name="T0" fmla="*/ 8264 w 11898"/>
              <a:gd name="T1" fmla="*/ 11934 h 11934"/>
              <a:gd name="T2" fmla="*/ 6604 w 11898"/>
              <a:gd name="T3" fmla="*/ 7046 h 11934"/>
              <a:gd name="T4" fmla="*/ 7084 w 11898"/>
              <a:gd name="T5" fmla="*/ 6641 h 11934"/>
              <a:gd name="T6" fmla="*/ 11898 w 11898"/>
              <a:gd name="T7" fmla="*/ 8301 h 11934"/>
              <a:gd name="T8" fmla="*/ 10238 w 11898"/>
              <a:gd name="T9" fmla="*/ 11934 h 11934"/>
              <a:gd name="T10" fmla="*/ 7323 w 11898"/>
              <a:gd name="T11" fmla="*/ 10274 h 11934"/>
              <a:gd name="T12" fmla="*/ 10219 w 11898"/>
              <a:gd name="T13" fmla="*/ 11197 h 11934"/>
              <a:gd name="T14" fmla="*/ 11142 w 11898"/>
              <a:gd name="T15" fmla="*/ 8301 h 11934"/>
              <a:gd name="T16" fmla="*/ 7323 w 11898"/>
              <a:gd name="T17" fmla="*/ 7378 h 11934"/>
              <a:gd name="T18" fmla="*/ 1716 w 11898"/>
              <a:gd name="T19" fmla="*/ 11934 h 11934"/>
              <a:gd name="T20" fmla="*/ 0 w 11898"/>
              <a:gd name="T21" fmla="*/ 8374 h 11934"/>
              <a:gd name="T22" fmla="*/ 4815 w 11898"/>
              <a:gd name="T23" fmla="*/ 6659 h 11934"/>
              <a:gd name="T24" fmla="*/ 5294 w 11898"/>
              <a:gd name="T25" fmla="*/ 7065 h 11934"/>
              <a:gd name="T26" fmla="*/ 3560 w 11898"/>
              <a:gd name="T27" fmla="*/ 11934 h 11934"/>
              <a:gd name="T28" fmla="*/ 738 w 11898"/>
              <a:gd name="T29" fmla="*/ 8356 h 11934"/>
              <a:gd name="T30" fmla="*/ 1716 w 11898"/>
              <a:gd name="T31" fmla="*/ 11178 h 11934"/>
              <a:gd name="T32" fmla="*/ 4538 w 11898"/>
              <a:gd name="T33" fmla="*/ 10201 h 11934"/>
              <a:gd name="T34" fmla="*/ 1716 w 11898"/>
              <a:gd name="T35" fmla="*/ 7378 h 11934"/>
              <a:gd name="T36" fmla="*/ 1624 w 11898"/>
              <a:gd name="T37" fmla="*/ 5312 h 11934"/>
              <a:gd name="T38" fmla="*/ 0 w 11898"/>
              <a:gd name="T39" fmla="*/ 1642 h 11934"/>
              <a:gd name="T40" fmla="*/ 3671 w 11898"/>
              <a:gd name="T41" fmla="*/ 18 h 11934"/>
              <a:gd name="T42" fmla="*/ 5294 w 11898"/>
              <a:gd name="T43" fmla="*/ 4907 h 11934"/>
              <a:gd name="T44" fmla="*/ 4815 w 11898"/>
              <a:gd name="T45" fmla="*/ 5312 h 11934"/>
              <a:gd name="T46" fmla="*/ 720 w 11898"/>
              <a:gd name="T47" fmla="*/ 1623 h 11934"/>
              <a:gd name="T48" fmla="*/ 1605 w 11898"/>
              <a:gd name="T49" fmla="*/ 4575 h 11934"/>
              <a:gd name="T50" fmla="*/ 4538 w 11898"/>
              <a:gd name="T51" fmla="*/ 1642 h 11934"/>
              <a:gd name="T52" fmla="*/ 1605 w 11898"/>
              <a:gd name="T53" fmla="*/ 756 h 11934"/>
              <a:gd name="T54" fmla="*/ 10219 w 11898"/>
              <a:gd name="T55" fmla="*/ 5312 h 11934"/>
              <a:gd name="T56" fmla="*/ 6899 w 11898"/>
              <a:gd name="T57" fmla="*/ 5275 h 11934"/>
              <a:gd name="T58" fmla="*/ 6586 w 11898"/>
              <a:gd name="T59" fmla="*/ 1679 h 11934"/>
              <a:gd name="T60" fmla="*/ 10219 w 11898"/>
              <a:gd name="T61" fmla="*/ 0 h 11934"/>
              <a:gd name="T62" fmla="*/ 11898 w 11898"/>
              <a:gd name="T63" fmla="*/ 3634 h 11934"/>
              <a:gd name="T64" fmla="*/ 7323 w 11898"/>
              <a:gd name="T65" fmla="*/ 4574 h 11934"/>
              <a:gd name="T66" fmla="*/ 11142 w 11898"/>
              <a:gd name="T67" fmla="*/ 3634 h 11934"/>
              <a:gd name="T68" fmla="*/ 10201 w 11898"/>
              <a:gd name="T69" fmla="*/ 738 h 11934"/>
              <a:gd name="T70" fmla="*/ 7305 w 11898"/>
              <a:gd name="T71" fmla="*/ 1678 h 11934"/>
              <a:gd name="T72" fmla="*/ 7323 w 11898"/>
              <a:gd name="T73" fmla="*/ 4574 h 1193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</a:cxnLst>
            <a:rect l="0" t="0" r="r" b="b"/>
            <a:pathLst>
              <a:path w="11898" h="11934">
                <a:moveTo>
                  <a:pt x="10238" y="11934"/>
                </a:moveTo>
                <a:lnTo>
                  <a:pt x="8264" y="11934"/>
                </a:lnTo>
                <a:cubicBezTo>
                  <a:pt x="7342" y="11934"/>
                  <a:pt x="6604" y="11197"/>
                  <a:pt x="6604" y="10274"/>
                </a:cubicBezTo>
                <a:lnTo>
                  <a:pt x="6604" y="7046"/>
                </a:lnTo>
                <a:cubicBezTo>
                  <a:pt x="6604" y="6862"/>
                  <a:pt x="6733" y="6714"/>
                  <a:pt x="6918" y="6677"/>
                </a:cubicBezTo>
                <a:cubicBezTo>
                  <a:pt x="6973" y="6659"/>
                  <a:pt x="7028" y="6641"/>
                  <a:pt x="7084" y="6641"/>
                </a:cubicBezTo>
                <a:lnTo>
                  <a:pt x="10238" y="6641"/>
                </a:lnTo>
                <a:cubicBezTo>
                  <a:pt x="11160" y="6641"/>
                  <a:pt x="11898" y="7378"/>
                  <a:pt x="11898" y="8301"/>
                </a:cubicBezTo>
                <a:lnTo>
                  <a:pt x="11898" y="10274"/>
                </a:lnTo>
                <a:cubicBezTo>
                  <a:pt x="11879" y="11178"/>
                  <a:pt x="11142" y="11934"/>
                  <a:pt x="10238" y="11934"/>
                </a:cubicBezTo>
                <a:close/>
                <a:moveTo>
                  <a:pt x="7323" y="7378"/>
                </a:moveTo>
                <a:lnTo>
                  <a:pt x="7323" y="10274"/>
                </a:lnTo>
                <a:cubicBezTo>
                  <a:pt x="7323" y="10772"/>
                  <a:pt x="7729" y="11197"/>
                  <a:pt x="8246" y="11197"/>
                </a:cubicBezTo>
                <a:lnTo>
                  <a:pt x="10219" y="11197"/>
                </a:lnTo>
                <a:cubicBezTo>
                  <a:pt x="10717" y="11197"/>
                  <a:pt x="11142" y="10791"/>
                  <a:pt x="11142" y="10274"/>
                </a:cubicBezTo>
                <a:lnTo>
                  <a:pt x="11142" y="8301"/>
                </a:lnTo>
                <a:cubicBezTo>
                  <a:pt x="11142" y="7803"/>
                  <a:pt x="10736" y="7378"/>
                  <a:pt x="10219" y="7378"/>
                </a:cubicBezTo>
                <a:lnTo>
                  <a:pt x="7323" y="7378"/>
                </a:lnTo>
                <a:close/>
                <a:moveTo>
                  <a:pt x="3560" y="11934"/>
                </a:moveTo>
                <a:lnTo>
                  <a:pt x="1716" y="11934"/>
                </a:lnTo>
                <a:cubicBezTo>
                  <a:pt x="757" y="11934"/>
                  <a:pt x="0" y="11160"/>
                  <a:pt x="0" y="10219"/>
                </a:cubicBezTo>
                <a:lnTo>
                  <a:pt x="0" y="8374"/>
                </a:lnTo>
                <a:cubicBezTo>
                  <a:pt x="0" y="7415"/>
                  <a:pt x="775" y="6659"/>
                  <a:pt x="1716" y="6659"/>
                </a:cubicBezTo>
                <a:lnTo>
                  <a:pt x="4815" y="6659"/>
                </a:lnTo>
                <a:cubicBezTo>
                  <a:pt x="4870" y="6659"/>
                  <a:pt x="4925" y="6677"/>
                  <a:pt x="4981" y="6696"/>
                </a:cubicBezTo>
                <a:cubicBezTo>
                  <a:pt x="5165" y="6714"/>
                  <a:pt x="5294" y="6880"/>
                  <a:pt x="5294" y="7065"/>
                </a:cubicBezTo>
                <a:lnTo>
                  <a:pt x="5294" y="10237"/>
                </a:lnTo>
                <a:cubicBezTo>
                  <a:pt x="5294" y="11160"/>
                  <a:pt x="4519" y="11934"/>
                  <a:pt x="3560" y="11934"/>
                </a:cubicBezTo>
                <a:close/>
                <a:moveTo>
                  <a:pt x="1716" y="7378"/>
                </a:moveTo>
                <a:cubicBezTo>
                  <a:pt x="1181" y="7378"/>
                  <a:pt x="738" y="7821"/>
                  <a:pt x="738" y="8356"/>
                </a:cubicBezTo>
                <a:lnTo>
                  <a:pt x="738" y="10201"/>
                </a:lnTo>
                <a:cubicBezTo>
                  <a:pt x="738" y="10754"/>
                  <a:pt x="1181" y="11178"/>
                  <a:pt x="1716" y="11178"/>
                </a:cubicBezTo>
                <a:lnTo>
                  <a:pt x="3560" y="11178"/>
                </a:lnTo>
                <a:cubicBezTo>
                  <a:pt x="4095" y="11178"/>
                  <a:pt x="4538" y="10736"/>
                  <a:pt x="4538" y="10201"/>
                </a:cubicBezTo>
                <a:lnTo>
                  <a:pt x="4538" y="7378"/>
                </a:lnTo>
                <a:lnTo>
                  <a:pt x="1716" y="7378"/>
                </a:lnTo>
                <a:close/>
                <a:moveTo>
                  <a:pt x="4815" y="5312"/>
                </a:moveTo>
                <a:lnTo>
                  <a:pt x="1624" y="5312"/>
                </a:lnTo>
                <a:cubicBezTo>
                  <a:pt x="720" y="5312"/>
                  <a:pt x="0" y="4593"/>
                  <a:pt x="0" y="3689"/>
                </a:cubicBezTo>
                <a:lnTo>
                  <a:pt x="0" y="1642"/>
                </a:lnTo>
                <a:cubicBezTo>
                  <a:pt x="0" y="738"/>
                  <a:pt x="720" y="18"/>
                  <a:pt x="1624" y="18"/>
                </a:cubicBezTo>
                <a:lnTo>
                  <a:pt x="3671" y="18"/>
                </a:lnTo>
                <a:cubicBezTo>
                  <a:pt x="4575" y="18"/>
                  <a:pt x="5294" y="738"/>
                  <a:pt x="5294" y="1642"/>
                </a:cubicBezTo>
                <a:lnTo>
                  <a:pt x="5294" y="4907"/>
                </a:lnTo>
                <a:cubicBezTo>
                  <a:pt x="5294" y="5091"/>
                  <a:pt x="5165" y="5239"/>
                  <a:pt x="4981" y="5276"/>
                </a:cubicBezTo>
                <a:cubicBezTo>
                  <a:pt x="4925" y="5294"/>
                  <a:pt x="4870" y="5312"/>
                  <a:pt x="4815" y="5312"/>
                </a:cubicBezTo>
                <a:close/>
                <a:moveTo>
                  <a:pt x="1605" y="738"/>
                </a:moveTo>
                <a:cubicBezTo>
                  <a:pt x="1125" y="738"/>
                  <a:pt x="720" y="1144"/>
                  <a:pt x="720" y="1623"/>
                </a:cubicBezTo>
                <a:lnTo>
                  <a:pt x="720" y="3689"/>
                </a:lnTo>
                <a:cubicBezTo>
                  <a:pt x="720" y="4169"/>
                  <a:pt x="1125" y="4575"/>
                  <a:pt x="1605" y="4575"/>
                </a:cubicBezTo>
                <a:lnTo>
                  <a:pt x="4538" y="4575"/>
                </a:lnTo>
                <a:lnTo>
                  <a:pt x="4538" y="1642"/>
                </a:lnTo>
                <a:cubicBezTo>
                  <a:pt x="4538" y="1162"/>
                  <a:pt x="4132" y="756"/>
                  <a:pt x="3653" y="756"/>
                </a:cubicBezTo>
                <a:lnTo>
                  <a:pt x="1605" y="756"/>
                </a:lnTo>
                <a:lnTo>
                  <a:pt x="1605" y="738"/>
                </a:lnTo>
                <a:close/>
                <a:moveTo>
                  <a:pt x="10219" y="5312"/>
                </a:moveTo>
                <a:lnTo>
                  <a:pt x="7065" y="5312"/>
                </a:lnTo>
                <a:cubicBezTo>
                  <a:pt x="7010" y="5312"/>
                  <a:pt x="6954" y="5294"/>
                  <a:pt x="6899" y="5275"/>
                </a:cubicBezTo>
                <a:cubicBezTo>
                  <a:pt x="6715" y="5257"/>
                  <a:pt x="6586" y="5091"/>
                  <a:pt x="6586" y="4907"/>
                </a:cubicBezTo>
                <a:lnTo>
                  <a:pt x="6586" y="1679"/>
                </a:lnTo>
                <a:cubicBezTo>
                  <a:pt x="6586" y="756"/>
                  <a:pt x="7342" y="0"/>
                  <a:pt x="8264" y="0"/>
                </a:cubicBezTo>
                <a:lnTo>
                  <a:pt x="10219" y="0"/>
                </a:lnTo>
                <a:cubicBezTo>
                  <a:pt x="11142" y="0"/>
                  <a:pt x="11898" y="756"/>
                  <a:pt x="11898" y="1679"/>
                </a:cubicBezTo>
                <a:lnTo>
                  <a:pt x="11898" y="3634"/>
                </a:lnTo>
                <a:cubicBezTo>
                  <a:pt x="11880" y="4556"/>
                  <a:pt x="11142" y="5312"/>
                  <a:pt x="10219" y="5312"/>
                </a:cubicBezTo>
                <a:close/>
                <a:moveTo>
                  <a:pt x="7323" y="4574"/>
                </a:moveTo>
                <a:lnTo>
                  <a:pt x="10201" y="4574"/>
                </a:lnTo>
                <a:cubicBezTo>
                  <a:pt x="10717" y="4574"/>
                  <a:pt x="11142" y="4150"/>
                  <a:pt x="11142" y="3634"/>
                </a:cubicBezTo>
                <a:lnTo>
                  <a:pt x="11142" y="1678"/>
                </a:lnTo>
                <a:cubicBezTo>
                  <a:pt x="11142" y="1162"/>
                  <a:pt x="10717" y="738"/>
                  <a:pt x="10201" y="738"/>
                </a:cubicBezTo>
                <a:lnTo>
                  <a:pt x="8246" y="738"/>
                </a:lnTo>
                <a:cubicBezTo>
                  <a:pt x="7729" y="738"/>
                  <a:pt x="7305" y="1162"/>
                  <a:pt x="7305" y="1678"/>
                </a:cubicBezTo>
                <a:lnTo>
                  <a:pt x="7305" y="4574"/>
                </a:lnTo>
                <a:lnTo>
                  <a:pt x="7323" y="4574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+mn-ea"/>
              <a:sym typeface="+mn-lt"/>
            </a:endParaRPr>
          </a:p>
        </p:txBody>
      </p:sp>
      <p:grpSp>
        <p:nvGrpSpPr>
          <p:cNvPr id="14" name="组合 13"/>
          <p:cNvGrpSpPr/>
          <p:nvPr/>
        </p:nvGrpSpPr>
        <p:grpSpPr>
          <a:xfrm>
            <a:off x="283557" y="5476785"/>
            <a:ext cx="1944216" cy="400110"/>
            <a:chOff x="9048328" y="1904275"/>
            <a:chExt cx="1944216" cy="400110"/>
          </a:xfrm>
        </p:grpSpPr>
        <p:sp>
          <p:nvSpPr>
            <p:cNvPr id="16" name="文本框 82"/>
            <p:cNvSpPr txBox="1"/>
            <p:nvPr/>
          </p:nvSpPr>
          <p:spPr>
            <a:xfrm>
              <a:off x="9376380" y="1904275"/>
              <a:ext cx="1616164" cy="40011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spAutoFit/>
            </a:bodyPr>
            <a:lstStyle>
              <a:defPPr>
                <a:defRPr lang="zh-CN"/>
              </a:defPPr>
              <a:lvl1pPr algn="ctr">
                <a:defRPr>
                  <a:solidFill>
                    <a:schemeClr val="lt1"/>
                  </a:solidFill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pPr algn="l">
                <a:defRPr/>
              </a:pPr>
              <a:r>
                <a:rPr lang="zh-CN" altLang="en-US" sz="2000" b="1" dirty="0">
                  <a:solidFill>
                    <a:srgbClr val="4472C4"/>
                  </a:solidFill>
                  <a:cs typeface="+mn-ea"/>
                  <a:sym typeface="+mn-lt"/>
                </a:rPr>
                <a:t>输出产物</a:t>
              </a:r>
            </a:p>
          </p:txBody>
        </p:sp>
        <p:sp>
          <p:nvSpPr>
            <p:cNvPr id="34" name="iconfont-1192-742827"/>
            <p:cNvSpPr/>
            <p:nvPr/>
          </p:nvSpPr>
          <p:spPr>
            <a:xfrm>
              <a:off x="9048328" y="1964832"/>
              <a:ext cx="267336" cy="268131"/>
            </a:xfrm>
            <a:custGeom>
              <a:avLst/>
              <a:gdLst>
                <a:gd name="T0" fmla="*/ 8264 w 11898"/>
                <a:gd name="T1" fmla="*/ 11934 h 11934"/>
                <a:gd name="T2" fmla="*/ 6604 w 11898"/>
                <a:gd name="T3" fmla="*/ 7046 h 11934"/>
                <a:gd name="T4" fmla="*/ 7084 w 11898"/>
                <a:gd name="T5" fmla="*/ 6641 h 11934"/>
                <a:gd name="T6" fmla="*/ 11898 w 11898"/>
                <a:gd name="T7" fmla="*/ 8301 h 11934"/>
                <a:gd name="T8" fmla="*/ 10238 w 11898"/>
                <a:gd name="T9" fmla="*/ 11934 h 11934"/>
                <a:gd name="T10" fmla="*/ 7323 w 11898"/>
                <a:gd name="T11" fmla="*/ 10274 h 11934"/>
                <a:gd name="T12" fmla="*/ 10219 w 11898"/>
                <a:gd name="T13" fmla="*/ 11197 h 11934"/>
                <a:gd name="T14" fmla="*/ 11142 w 11898"/>
                <a:gd name="T15" fmla="*/ 8301 h 11934"/>
                <a:gd name="T16" fmla="*/ 7323 w 11898"/>
                <a:gd name="T17" fmla="*/ 7378 h 11934"/>
                <a:gd name="T18" fmla="*/ 1716 w 11898"/>
                <a:gd name="T19" fmla="*/ 11934 h 11934"/>
                <a:gd name="T20" fmla="*/ 0 w 11898"/>
                <a:gd name="T21" fmla="*/ 8374 h 11934"/>
                <a:gd name="T22" fmla="*/ 4815 w 11898"/>
                <a:gd name="T23" fmla="*/ 6659 h 11934"/>
                <a:gd name="T24" fmla="*/ 5294 w 11898"/>
                <a:gd name="T25" fmla="*/ 7065 h 11934"/>
                <a:gd name="T26" fmla="*/ 3560 w 11898"/>
                <a:gd name="T27" fmla="*/ 11934 h 11934"/>
                <a:gd name="T28" fmla="*/ 738 w 11898"/>
                <a:gd name="T29" fmla="*/ 8356 h 11934"/>
                <a:gd name="T30" fmla="*/ 1716 w 11898"/>
                <a:gd name="T31" fmla="*/ 11178 h 11934"/>
                <a:gd name="T32" fmla="*/ 4538 w 11898"/>
                <a:gd name="T33" fmla="*/ 10201 h 11934"/>
                <a:gd name="T34" fmla="*/ 1716 w 11898"/>
                <a:gd name="T35" fmla="*/ 7378 h 11934"/>
                <a:gd name="T36" fmla="*/ 1624 w 11898"/>
                <a:gd name="T37" fmla="*/ 5312 h 11934"/>
                <a:gd name="T38" fmla="*/ 0 w 11898"/>
                <a:gd name="T39" fmla="*/ 1642 h 11934"/>
                <a:gd name="T40" fmla="*/ 3671 w 11898"/>
                <a:gd name="T41" fmla="*/ 18 h 11934"/>
                <a:gd name="T42" fmla="*/ 5294 w 11898"/>
                <a:gd name="T43" fmla="*/ 4907 h 11934"/>
                <a:gd name="T44" fmla="*/ 4815 w 11898"/>
                <a:gd name="T45" fmla="*/ 5312 h 11934"/>
                <a:gd name="T46" fmla="*/ 720 w 11898"/>
                <a:gd name="T47" fmla="*/ 1623 h 11934"/>
                <a:gd name="T48" fmla="*/ 1605 w 11898"/>
                <a:gd name="T49" fmla="*/ 4575 h 11934"/>
                <a:gd name="T50" fmla="*/ 4538 w 11898"/>
                <a:gd name="T51" fmla="*/ 1642 h 11934"/>
                <a:gd name="T52" fmla="*/ 1605 w 11898"/>
                <a:gd name="T53" fmla="*/ 756 h 11934"/>
                <a:gd name="T54" fmla="*/ 10219 w 11898"/>
                <a:gd name="T55" fmla="*/ 5312 h 11934"/>
                <a:gd name="T56" fmla="*/ 6899 w 11898"/>
                <a:gd name="T57" fmla="*/ 5275 h 11934"/>
                <a:gd name="T58" fmla="*/ 6586 w 11898"/>
                <a:gd name="T59" fmla="*/ 1679 h 11934"/>
                <a:gd name="T60" fmla="*/ 10219 w 11898"/>
                <a:gd name="T61" fmla="*/ 0 h 11934"/>
                <a:gd name="T62" fmla="*/ 11898 w 11898"/>
                <a:gd name="T63" fmla="*/ 3634 h 11934"/>
                <a:gd name="T64" fmla="*/ 7323 w 11898"/>
                <a:gd name="T65" fmla="*/ 4574 h 11934"/>
                <a:gd name="T66" fmla="*/ 11142 w 11898"/>
                <a:gd name="T67" fmla="*/ 3634 h 11934"/>
                <a:gd name="T68" fmla="*/ 10201 w 11898"/>
                <a:gd name="T69" fmla="*/ 738 h 11934"/>
                <a:gd name="T70" fmla="*/ 7305 w 11898"/>
                <a:gd name="T71" fmla="*/ 1678 h 11934"/>
                <a:gd name="T72" fmla="*/ 7323 w 11898"/>
                <a:gd name="T73" fmla="*/ 4574 h 119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1898" h="11934">
                  <a:moveTo>
                    <a:pt x="10238" y="11934"/>
                  </a:moveTo>
                  <a:lnTo>
                    <a:pt x="8264" y="11934"/>
                  </a:lnTo>
                  <a:cubicBezTo>
                    <a:pt x="7342" y="11934"/>
                    <a:pt x="6604" y="11197"/>
                    <a:pt x="6604" y="10274"/>
                  </a:cubicBezTo>
                  <a:lnTo>
                    <a:pt x="6604" y="7046"/>
                  </a:lnTo>
                  <a:cubicBezTo>
                    <a:pt x="6604" y="6862"/>
                    <a:pt x="6733" y="6714"/>
                    <a:pt x="6918" y="6677"/>
                  </a:cubicBezTo>
                  <a:cubicBezTo>
                    <a:pt x="6973" y="6659"/>
                    <a:pt x="7028" y="6641"/>
                    <a:pt x="7084" y="6641"/>
                  </a:cubicBezTo>
                  <a:lnTo>
                    <a:pt x="10238" y="6641"/>
                  </a:lnTo>
                  <a:cubicBezTo>
                    <a:pt x="11160" y="6641"/>
                    <a:pt x="11898" y="7378"/>
                    <a:pt x="11898" y="8301"/>
                  </a:cubicBezTo>
                  <a:lnTo>
                    <a:pt x="11898" y="10274"/>
                  </a:lnTo>
                  <a:cubicBezTo>
                    <a:pt x="11879" y="11178"/>
                    <a:pt x="11142" y="11934"/>
                    <a:pt x="10238" y="11934"/>
                  </a:cubicBezTo>
                  <a:close/>
                  <a:moveTo>
                    <a:pt x="7323" y="7378"/>
                  </a:moveTo>
                  <a:lnTo>
                    <a:pt x="7323" y="10274"/>
                  </a:lnTo>
                  <a:cubicBezTo>
                    <a:pt x="7323" y="10772"/>
                    <a:pt x="7729" y="11197"/>
                    <a:pt x="8246" y="11197"/>
                  </a:cubicBezTo>
                  <a:lnTo>
                    <a:pt x="10219" y="11197"/>
                  </a:lnTo>
                  <a:cubicBezTo>
                    <a:pt x="10717" y="11197"/>
                    <a:pt x="11142" y="10791"/>
                    <a:pt x="11142" y="10274"/>
                  </a:cubicBezTo>
                  <a:lnTo>
                    <a:pt x="11142" y="8301"/>
                  </a:lnTo>
                  <a:cubicBezTo>
                    <a:pt x="11142" y="7803"/>
                    <a:pt x="10736" y="7378"/>
                    <a:pt x="10219" y="7378"/>
                  </a:cubicBezTo>
                  <a:lnTo>
                    <a:pt x="7323" y="7378"/>
                  </a:lnTo>
                  <a:close/>
                  <a:moveTo>
                    <a:pt x="3560" y="11934"/>
                  </a:moveTo>
                  <a:lnTo>
                    <a:pt x="1716" y="11934"/>
                  </a:lnTo>
                  <a:cubicBezTo>
                    <a:pt x="757" y="11934"/>
                    <a:pt x="0" y="11160"/>
                    <a:pt x="0" y="10219"/>
                  </a:cubicBezTo>
                  <a:lnTo>
                    <a:pt x="0" y="8374"/>
                  </a:lnTo>
                  <a:cubicBezTo>
                    <a:pt x="0" y="7415"/>
                    <a:pt x="775" y="6659"/>
                    <a:pt x="1716" y="6659"/>
                  </a:cubicBezTo>
                  <a:lnTo>
                    <a:pt x="4815" y="6659"/>
                  </a:lnTo>
                  <a:cubicBezTo>
                    <a:pt x="4870" y="6659"/>
                    <a:pt x="4925" y="6677"/>
                    <a:pt x="4981" y="6696"/>
                  </a:cubicBezTo>
                  <a:cubicBezTo>
                    <a:pt x="5165" y="6714"/>
                    <a:pt x="5294" y="6880"/>
                    <a:pt x="5294" y="7065"/>
                  </a:cubicBezTo>
                  <a:lnTo>
                    <a:pt x="5294" y="10237"/>
                  </a:lnTo>
                  <a:cubicBezTo>
                    <a:pt x="5294" y="11160"/>
                    <a:pt x="4519" y="11934"/>
                    <a:pt x="3560" y="11934"/>
                  </a:cubicBezTo>
                  <a:close/>
                  <a:moveTo>
                    <a:pt x="1716" y="7378"/>
                  </a:moveTo>
                  <a:cubicBezTo>
                    <a:pt x="1181" y="7378"/>
                    <a:pt x="738" y="7821"/>
                    <a:pt x="738" y="8356"/>
                  </a:cubicBezTo>
                  <a:lnTo>
                    <a:pt x="738" y="10201"/>
                  </a:lnTo>
                  <a:cubicBezTo>
                    <a:pt x="738" y="10754"/>
                    <a:pt x="1181" y="11178"/>
                    <a:pt x="1716" y="11178"/>
                  </a:cubicBezTo>
                  <a:lnTo>
                    <a:pt x="3560" y="11178"/>
                  </a:lnTo>
                  <a:cubicBezTo>
                    <a:pt x="4095" y="11178"/>
                    <a:pt x="4538" y="10736"/>
                    <a:pt x="4538" y="10201"/>
                  </a:cubicBezTo>
                  <a:lnTo>
                    <a:pt x="4538" y="7378"/>
                  </a:lnTo>
                  <a:lnTo>
                    <a:pt x="1716" y="7378"/>
                  </a:lnTo>
                  <a:close/>
                  <a:moveTo>
                    <a:pt x="4815" y="5312"/>
                  </a:moveTo>
                  <a:lnTo>
                    <a:pt x="1624" y="5312"/>
                  </a:lnTo>
                  <a:cubicBezTo>
                    <a:pt x="720" y="5312"/>
                    <a:pt x="0" y="4593"/>
                    <a:pt x="0" y="3689"/>
                  </a:cubicBezTo>
                  <a:lnTo>
                    <a:pt x="0" y="1642"/>
                  </a:lnTo>
                  <a:cubicBezTo>
                    <a:pt x="0" y="738"/>
                    <a:pt x="720" y="18"/>
                    <a:pt x="1624" y="18"/>
                  </a:cubicBezTo>
                  <a:lnTo>
                    <a:pt x="3671" y="18"/>
                  </a:lnTo>
                  <a:cubicBezTo>
                    <a:pt x="4575" y="18"/>
                    <a:pt x="5294" y="738"/>
                    <a:pt x="5294" y="1642"/>
                  </a:cubicBezTo>
                  <a:lnTo>
                    <a:pt x="5294" y="4907"/>
                  </a:lnTo>
                  <a:cubicBezTo>
                    <a:pt x="5294" y="5091"/>
                    <a:pt x="5165" y="5239"/>
                    <a:pt x="4981" y="5276"/>
                  </a:cubicBezTo>
                  <a:cubicBezTo>
                    <a:pt x="4925" y="5294"/>
                    <a:pt x="4870" y="5312"/>
                    <a:pt x="4815" y="5312"/>
                  </a:cubicBezTo>
                  <a:close/>
                  <a:moveTo>
                    <a:pt x="1605" y="738"/>
                  </a:moveTo>
                  <a:cubicBezTo>
                    <a:pt x="1125" y="738"/>
                    <a:pt x="720" y="1144"/>
                    <a:pt x="720" y="1623"/>
                  </a:cubicBezTo>
                  <a:lnTo>
                    <a:pt x="720" y="3689"/>
                  </a:lnTo>
                  <a:cubicBezTo>
                    <a:pt x="720" y="4169"/>
                    <a:pt x="1125" y="4575"/>
                    <a:pt x="1605" y="4575"/>
                  </a:cubicBezTo>
                  <a:lnTo>
                    <a:pt x="4538" y="4575"/>
                  </a:lnTo>
                  <a:lnTo>
                    <a:pt x="4538" y="1642"/>
                  </a:lnTo>
                  <a:cubicBezTo>
                    <a:pt x="4538" y="1162"/>
                    <a:pt x="4132" y="756"/>
                    <a:pt x="3653" y="756"/>
                  </a:cubicBezTo>
                  <a:lnTo>
                    <a:pt x="1605" y="756"/>
                  </a:lnTo>
                  <a:lnTo>
                    <a:pt x="1605" y="738"/>
                  </a:lnTo>
                  <a:close/>
                  <a:moveTo>
                    <a:pt x="10219" y="5312"/>
                  </a:moveTo>
                  <a:lnTo>
                    <a:pt x="7065" y="5312"/>
                  </a:lnTo>
                  <a:cubicBezTo>
                    <a:pt x="7010" y="5312"/>
                    <a:pt x="6954" y="5294"/>
                    <a:pt x="6899" y="5275"/>
                  </a:cubicBezTo>
                  <a:cubicBezTo>
                    <a:pt x="6715" y="5257"/>
                    <a:pt x="6586" y="5091"/>
                    <a:pt x="6586" y="4907"/>
                  </a:cubicBezTo>
                  <a:lnTo>
                    <a:pt x="6586" y="1679"/>
                  </a:lnTo>
                  <a:cubicBezTo>
                    <a:pt x="6586" y="756"/>
                    <a:pt x="7342" y="0"/>
                    <a:pt x="8264" y="0"/>
                  </a:cubicBezTo>
                  <a:lnTo>
                    <a:pt x="10219" y="0"/>
                  </a:lnTo>
                  <a:cubicBezTo>
                    <a:pt x="11142" y="0"/>
                    <a:pt x="11898" y="756"/>
                    <a:pt x="11898" y="1679"/>
                  </a:cubicBezTo>
                  <a:lnTo>
                    <a:pt x="11898" y="3634"/>
                  </a:lnTo>
                  <a:cubicBezTo>
                    <a:pt x="11880" y="4556"/>
                    <a:pt x="11142" y="5312"/>
                    <a:pt x="10219" y="5312"/>
                  </a:cubicBezTo>
                  <a:close/>
                  <a:moveTo>
                    <a:pt x="7323" y="4574"/>
                  </a:moveTo>
                  <a:lnTo>
                    <a:pt x="10201" y="4574"/>
                  </a:lnTo>
                  <a:cubicBezTo>
                    <a:pt x="10717" y="4574"/>
                    <a:pt x="11142" y="4150"/>
                    <a:pt x="11142" y="3634"/>
                  </a:cubicBezTo>
                  <a:lnTo>
                    <a:pt x="11142" y="1678"/>
                  </a:lnTo>
                  <a:cubicBezTo>
                    <a:pt x="11142" y="1162"/>
                    <a:pt x="10717" y="738"/>
                    <a:pt x="10201" y="738"/>
                  </a:cubicBezTo>
                  <a:lnTo>
                    <a:pt x="8246" y="738"/>
                  </a:lnTo>
                  <a:cubicBezTo>
                    <a:pt x="7729" y="738"/>
                    <a:pt x="7305" y="1162"/>
                    <a:pt x="7305" y="1678"/>
                  </a:cubicBezTo>
                  <a:lnTo>
                    <a:pt x="7305" y="4574"/>
                  </a:lnTo>
                  <a:lnTo>
                    <a:pt x="7323" y="4574"/>
                  </a:ln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cs typeface="+mn-ea"/>
                <a:sym typeface="+mn-lt"/>
              </a:endParaRPr>
            </a:p>
          </p:txBody>
        </p:sp>
      </p:grpSp>
      <p:sp>
        <p:nvSpPr>
          <p:cNvPr id="36" name="文本框 83"/>
          <p:cNvSpPr txBox="1"/>
          <p:nvPr/>
        </p:nvSpPr>
        <p:spPr>
          <a:xfrm>
            <a:off x="540385" y="4149090"/>
            <a:ext cx="5144135" cy="1168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zh-CN" altLang="zh-CN" sz="1400" dirty="0"/>
              <a:t>大端网络字节序；定点编码比例因子 + 偏移完成物理值↔整数转换</a:t>
            </a:r>
          </a:p>
          <a:p>
            <a:pPr lvl="0"/>
            <a:r>
              <a:rPr lang="zh-CN" altLang="zh-CN" sz="1400" dirty="0"/>
              <a:t>区分：帧 message_valid 仅代表协议格式合法，不等于业务数据可信</a:t>
            </a:r>
          </a:p>
          <a:p>
            <a:pPr lvl="0"/>
            <a:r>
              <a:rPr lang="zh-CN" altLang="zh-CN" sz="1400" dirty="0"/>
              <a:t>错误不崩溃：记录 error_list，继续处理后续帧</a:t>
            </a:r>
            <a:endParaRPr lang="zh-CN" altLang="zh-CN" sz="1400" dirty="0">
              <a:effectLst/>
            </a:endParaRPr>
          </a:p>
        </p:txBody>
      </p:sp>
      <p:sp>
        <p:nvSpPr>
          <p:cNvPr id="37" name="文本框 83"/>
          <p:cNvSpPr txBox="1"/>
          <p:nvPr/>
        </p:nvSpPr>
        <p:spPr>
          <a:xfrm>
            <a:off x="599440" y="5922645"/>
            <a:ext cx="4939030" cy="9531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zh-CN" altLang="zh-CN" sz="1400" dirty="0"/>
              <a:t>encoded_messages.bin：41 字节二进制消息流</a:t>
            </a:r>
          </a:p>
          <a:p>
            <a:pPr lvl="0"/>
            <a:r>
              <a:rPr lang="zh-CN" altLang="zh-CN" sz="1400" dirty="0"/>
              <a:t>decoded_partner_states.csv：接收解码结构化记录</a:t>
            </a:r>
          </a:p>
          <a:p>
            <a:pPr lvl="0"/>
            <a:r>
              <a:rPr lang="zh-CN" altLang="zh-CN" sz="1400" dirty="0"/>
              <a:t>validation_log.csv：帧、字段校验错误日志</a:t>
            </a:r>
          </a:p>
          <a:p>
            <a:pPr lvl="0"/>
            <a:r>
              <a:rPr lang="zh-CN" altLang="zh-CN" sz="1400" dirty="0"/>
              <a:t>roundtrip_report.csv：编解码往返测试报告</a:t>
            </a:r>
            <a:endParaRPr lang="zh-CN" altLang="zh-CN" sz="1400" dirty="0">
              <a:effectLst/>
            </a:endParaRPr>
          </a:p>
        </p:txBody>
      </p:sp>
      <p:grpSp>
        <p:nvGrpSpPr>
          <p:cNvPr id="53" name="组合 52"/>
          <p:cNvGrpSpPr/>
          <p:nvPr/>
        </p:nvGrpSpPr>
        <p:grpSpPr>
          <a:xfrm>
            <a:off x="339358" y="951820"/>
            <a:ext cx="4800911" cy="460375"/>
            <a:chOff x="934400" y="936575"/>
            <a:chExt cx="4800911" cy="460375"/>
          </a:xfrm>
        </p:grpSpPr>
        <p:sp>
          <p:nvSpPr>
            <p:cNvPr id="54" name="文本框 53"/>
            <p:cNvSpPr txBox="1"/>
            <p:nvPr/>
          </p:nvSpPr>
          <p:spPr>
            <a:xfrm>
              <a:off x="1065521" y="936575"/>
              <a:ext cx="4669790" cy="4603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zh-CN" sz="2400" b="1" dirty="0"/>
                <a:t>M2 TeachingLink 41 字节帧要点</a:t>
              </a:r>
              <a:endParaRPr lang="zh-CN" altLang="en-US" sz="2400" b="1" dirty="0"/>
            </a:p>
          </p:txBody>
        </p:sp>
        <p:sp>
          <p:nvSpPr>
            <p:cNvPr id="55" name="矩形 54"/>
            <p:cNvSpPr/>
            <p:nvPr/>
          </p:nvSpPr>
          <p:spPr>
            <a:xfrm>
              <a:off x="934400" y="963997"/>
              <a:ext cx="45719" cy="371466"/>
            </a:xfrm>
            <a:prstGeom prst="rect">
              <a:avLst/>
            </a:prstGeom>
            <a:solidFill>
              <a:srgbClr val="0E41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20" name="文本框 83"/>
          <p:cNvSpPr txBox="1"/>
          <p:nvPr/>
        </p:nvSpPr>
        <p:spPr>
          <a:xfrm>
            <a:off x="540385" y="1959610"/>
            <a:ext cx="5195570" cy="20300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just">
              <a:buClr>
                <a:srgbClr val="E24848"/>
              </a:buClr>
              <a:defRPr/>
            </a:pPr>
            <a:r>
              <a:rPr lang="zh-CN" altLang="zh-CN" sz="1400" dirty="0"/>
              <a:t>OpenSky 原始快照：raw_states.json（存在字段缺失、null 异常值）</a:t>
            </a:r>
            <a:endParaRPr lang="en-US" altLang="zh-CN" sz="1400" dirty="0"/>
          </a:p>
          <a:p>
            <a:pPr lvl="0"/>
            <a:r>
              <a:rPr lang="zh-CN" altLang="zh-CN" sz="1400" dirty="0"/>
              <a:t>parse_state_vector()：解析 OpenSky 原始数组，生成发送方内部记录</a:t>
            </a:r>
          </a:p>
          <a:p>
            <a:pPr lvl="0"/>
            <a:r>
              <a:rPr lang="zh-CN" altLang="zh-CN" sz="1400" dirty="0"/>
              <a:t>encode_position_message()：定点量化、封装 41 字节 TeachingLink 帧，计算calculate_checksum校验和</a:t>
            </a:r>
          </a:p>
          <a:p>
            <a:pPr lvl="0"/>
            <a:r>
              <a:rPr lang="zh-CN" altLang="zh-CN" sz="1400" dirty="0"/>
              <a:t>decode_position_message()：接收端帧头、校验和、保留位校验；定点反解析；输出结构化字典</a:t>
            </a:r>
          </a:p>
          <a:p>
            <a:pPr lvl="0" algn="just">
              <a:buClr>
                <a:srgbClr val="E24848"/>
              </a:buClr>
              <a:defRPr/>
            </a:pPr>
            <a:endParaRPr kumimoji="0" lang="zh-CN" altLang="zh-CN" sz="1400" i="0" u="none" strike="noStrike" kern="1200" cap="none" spc="0" normalizeH="0" baseline="0" noProof="1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cs typeface="+mn-ea"/>
              <a:sym typeface="+mn-lt"/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2064031" y="5477060"/>
            <a:ext cx="44743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1200" dirty="0">
                <a:solidFill>
                  <a:srgbClr val="FF0000"/>
                </a:solidFill>
              </a:rPr>
              <a:t>raw_states.json → parse → encode → encoded_messages.bin</a:t>
            </a:r>
            <a:endParaRPr lang="en-US" altLang="zh-CN" sz="1200" dirty="0">
              <a:solidFill>
                <a:srgbClr val="FF0000"/>
              </a:solidFill>
            </a:endParaRPr>
          </a:p>
          <a:p>
            <a:r>
              <a:rPr lang="zh-CN" altLang="zh-CN" sz="1200" dirty="0">
                <a:solidFill>
                  <a:srgbClr val="FF0000"/>
                </a:solidFill>
              </a:rPr>
              <a:t>→decode → 解码CSV+校验日志，供给下游M3航迹模块</a:t>
            </a:r>
          </a:p>
        </p:txBody>
      </p:sp>
      <p:grpSp>
        <p:nvGrpSpPr>
          <p:cNvPr id="65" name="组合 64"/>
          <p:cNvGrpSpPr/>
          <p:nvPr/>
        </p:nvGrpSpPr>
        <p:grpSpPr>
          <a:xfrm>
            <a:off x="6239112" y="946692"/>
            <a:ext cx="441001" cy="460375"/>
            <a:chOff x="934400" y="936575"/>
            <a:chExt cx="441001" cy="460375"/>
          </a:xfrm>
        </p:grpSpPr>
        <p:sp>
          <p:nvSpPr>
            <p:cNvPr id="66" name="文本框 65"/>
            <p:cNvSpPr txBox="1"/>
            <p:nvPr/>
          </p:nvSpPr>
          <p:spPr>
            <a:xfrm>
              <a:off x="1065521" y="936575"/>
              <a:ext cx="309880" cy="4603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zh-CN" altLang="en-US" sz="2400" dirty="0">
                <a:solidFill>
                  <a:srgbClr val="0E419C"/>
                </a:solidFill>
              </a:endParaRPr>
            </a:p>
          </p:txBody>
        </p:sp>
        <p:sp>
          <p:nvSpPr>
            <p:cNvPr id="67" name="矩形 66"/>
            <p:cNvSpPr/>
            <p:nvPr/>
          </p:nvSpPr>
          <p:spPr>
            <a:xfrm>
              <a:off x="934400" y="963997"/>
              <a:ext cx="45719" cy="371466"/>
            </a:xfrm>
            <a:prstGeom prst="rect">
              <a:avLst/>
            </a:prstGeom>
            <a:solidFill>
              <a:srgbClr val="0E41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7" name="文本框 6"/>
          <p:cNvSpPr txBox="1"/>
          <p:nvPr/>
        </p:nvSpPr>
        <p:spPr>
          <a:xfrm>
            <a:off x="6680200" y="974090"/>
            <a:ext cx="482981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/>
              <a:t>M3 </a:t>
            </a:r>
            <a:r>
              <a:rPr lang="zh-CN" altLang="en-US" sz="2400" b="1"/>
              <a:t>单源多时刻关联与当前态势</a:t>
            </a:r>
          </a:p>
        </p:txBody>
      </p:sp>
      <p:sp>
        <p:nvSpPr>
          <p:cNvPr id="9" name="文本框 8"/>
          <p:cNvSpPr txBox="1"/>
          <p:nvPr/>
        </p:nvSpPr>
        <p:spPr>
          <a:xfrm>
            <a:off x="6795135" y="1513840"/>
            <a:ext cx="5059045" cy="485584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0">
              <a:buFont typeface="Arial" panose="020B0604020202020204" pitchFamily="34" charset="0"/>
              <a:buNone/>
            </a:pPr>
            <a:r>
              <a:rPr lang="zh-CN" altLang="en-US" b="1"/>
              <a:t>输入+核心函数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1400"/>
              <a:t>TeachingLink </a:t>
            </a:r>
            <a:r>
              <a:rPr lang="zh-CN" altLang="en-US" sz="1400"/>
              <a:t>多时刻二进制帧输出产物</a:t>
            </a:r>
          </a:p>
          <a:p>
            <a:pPr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zh-CN" sz="1400"/>
              <a:t>partner_messages_multitime.bin（3</a:t>
            </a:r>
            <a:r>
              <a:rPr lang="zh-CN" altLang="en-US" sz="1400"/>
              <a:t>目标 × 3时刻 = 9帧）</a:t>
            </a:r>
            <a:endParaRPr lang="en-US" altLang="zh-CN" sz="140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1400"/>
              <a:t>read_and_decode_frames()：</a:t>
            </a:r>
          </a:p>
          <a:p>
            <a:pPr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zh-CN" altLang="en-US" sz="1400"/>
              <a:t>按41字节切分二进制流，调用</a:t>
            </a:r>
            <a:r>
              <a:rPr lang="en-US" altLang="zh-CN" sz="1400"/>
              <a:t>M2</a:t>
            </a:r>
            <a:r>
              <a:rPr lang="zh-CN" altLang="en-US" sz="1400"/>
              <a:t>解码器逐帧解析，过滤</a:t>
            </a:r>
            <a:r>
              <a:rPr lang="en-US" altLang="zh-CN" sz="1400"/>
              <a:t>message_valid=True</a:t>
            </a:r>
            <a:r>
              <a:rPr lang="zh-CN" altLang="en-US" sz="1400"/>
              <a:t>的可接受记录</a:t>
            </a:r>
            <a:endParaRPr lang="en-US" altLang="zh-CN" sz="140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1400"/>
              <a:t>build_tracks_and_situation()：</a:t>
            </a:r>
          </a:p>
          <a:p>
            <a:pPr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zh-CN" altLang="en-US" sz="1400"/>
              <a:t>按</a:t>
            </a:r>
            <a:r>
              <a:rPr lang="en-US" altLang="zh-CN" sz="1400"/>
              <a:t>target_id</a:t>
            </a:r>
            <a:r>
              <a:rPr lang="zh-CN" altLang="en-US" sz="1400"/>
              <a:t>分组，组内按</a:t>
            </a:r>
            <a:r>
              <a:rPr lang="en-US" altLang="zh-CN" sz="1400"/>
              <a:t>timestamp</a:t>
            </a:r>
            <a:r>
              <a:rPr lang="zh-CN" altLang="en-US" sz="1400"/>
              <a:t>升序排列，生成</a:t>
            </a:r>
            <a:r>
              <a:rPr lang="en-US" altLang="zh-CN" sz="1400"/>
              <a:t>track_sequence_no，</a:t>
            </a:r>
            <a:r>
              <a:rPr lang="zh-CN" altLang="en-US" sz="1400"/>
              <a:t>提取每组最新记录作为当前态势</a:t>
            </a:r>
          </a:p>
          <a:p>
            <a:pPr indent="0">
              <a:lnSpc>
                <a:spcPct val="150000"/>
              </a:lnSpc>
              <a:buFont typeface="Arial" panose="020B0604020202020204" pitchFamily="34" charset="0"/>
              <a:buNone/>
            </a:pPr>
            <a:endParaRPr lang="zh-CN" altLang="en-US" sz="1400"/>
          </a:p>
          <a:p>
            <a:pPr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zh-CN" altLang="en-US" sz="2000" b="1"/>
              <a:t>关键机制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1400"/>
              <a:t>timestamp</a:t>
            </a:r>
            <a:r>
              <a:rPr lang="zh-CN" altLang="en-US" sz="1400"/>
              <a:t>为航迹时间，</a:t>
            </a:r>
            <a:r>
              <a:rPr lang="en-US" altLang="zh-CN" sz="1400"/>
              <a:t>message_seq</a:t>
            </a:r>
            <a:r>
              <a:rPr lang="zh-CN" altLang="en-US" sz="1400"/>
              <a:t>仅追踪发送顺序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400"/>
              <a:t>可选字段缺失不影响记录进入航迹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400"/>
              <a:t>尾部残余字节记录</a:t>
            </a:r>
            <a:r>
              <a:rPr lang="en-US" altLang="zh-CN" sz="1400"/>
              <a:t>LENGTH_ERROR</a:t>
            </a:r>
            <a:r>
              <a:rPr lang="zh-CN" altLang="en-US" sz="1400"/>
              <a:t>并忽略</a:t>
            </a:r>
          </a:p>
        </p:txBody>
      </p:sp>
      <p:sp>
        <p:nvSpPr>
          <p:cNvPr id="26" name="文本框 25"/>
          <p:cNvSpPr txBox="1"/>
          <p:nvPr/>
        </p:nvSpPr>
        <p:spPr>
          <a:xfrm>
            <a:off x="6887845" y="1434465"/>
            <a:ext cx="4932045" cy="512889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50000"/>
              </a:lnSpc>
            </a:pPr>
            <a:r>
              <a:rPr lang="zh-CN" altLang="en-US" b="1"/>
              <a:t>流程</a:t>
            </a:r>
          </a:p>
          <a:p>
            <a:pPr>
              <a:lnSpc>
                <a:spcPct val="150000"/>
              </a:lnSpc>
            </a:pPr>
            <a:endParaRPr lang="zh-CN" altLang="en-US" b="1"/>
          </a:p>
          <a:p>
            <a:pPr>
              <a:lnSpc>
                <a:spcPct val="150000"/>
              </a:lnSpc>
            </a:pPr>
            <a:endParaRPr lang="zh-CN" altLang="en-US" b="1"/>
          </a:p>
          <a:p>
            <a:pPr>
              <a:lnSpc>
                <a:spcPct val="150000"/>
              </a:lnSpc>
            </a:pPr>
            <a:endParaRPr lang="zh-CN" altLang="en-US" b="1"/>
          </a:p>
          <a:p>
            <a:pPr>
              <a:lnSpc>
                <a:spcPct val="150000"/>
              </a:lnSpc>
            </a:pPr>
            <a:endParaRPr lang="zh-CN" altLang="en-US" b="1"/>
          </a:p>
          <a:p>
            <a:pPr>
              <a:lnSpc>
                <a:spcPct val="150000"/>
              </a:lnSpc>
            </a:pPr>
            <a:endParaRPr lang="zh-CN" altLang="en-US" b="1"/>
          </a:p>
          <a:p>
            <a:pPr>
              <a:lnSpc>
                <a:spcPct val="150000"/>
              </a:lnSpc>
            </a:pPr>
            <a:endParaRPr lang="zh-CN" altLang="en-US" b="1"/>
          </a:p>
          <a:p>
            <a:pPr>
              <a:lnSpc>
                <a:spcPct val="150000"/>
              </a:lnSpc>
            </a:pPr>
            <a:endParaRPr lang="zh-CN" altLang="en-US" b="1"/>
          </a:p>
          <a:p>
            <a:pPr>
              <a:lnSpc>
                <a:spcPct val="150000"/>
              </a:lnSpc>
            </a:pPr>
            <a:r>
              <a:rPr lang="zh-CN" altLang="en-US" b="1"/>
              <a:t>输出产物</a:t>
            </a:r>
            <a:endParaRPr lang="en-US" altLang="zh-CN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1400"/>
              <a:t>decoded_multitime.csv：</a:t>
            </a:r>
            <a:r>
              <a:rPr lang="zh-CN" altLang="en-US" sz="1400"/>
              <a:t>全部解码记录</a:t>
            </a:r>
            <a:r>
              <a:rPr lang="en-US" altLang="zh-CN" sz="1400"/>
              <a:t>track_table.csv：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400"/>
              <a:t>按目标分组的完整航迹表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1400"/>
              <a:t>current_situation.csv：</a:t>
            </a:r>
            <a:r>
              <a:rPr lang="zh-CN" altLang="en-US" sz="1400"/>
              <a:t>每个目标最新时刻的当前态势</a:t>
            </a:r>
            <a:endParaRPr lang="en-US" altLang="zh-CN" sz="140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1400"/>
              <a:t>states.db：SQLite</a:t>
            </a:r>
            <a:r>
              <a:rPr lang="zh-CN" altLang="en-US" sz="1400"/>
              <a:t>持久化存储（选做）</a:t>
            </a:r>
          </a:p>
          <a:p>
            <a:pPr indent="0">
              <a:lnSpc>
                <a:spcPct val="150000"/>
              </a:lnSpc>
              <a:buFont typeface="Arial" panose="020B0604020202020204" pitchFamily="34" charset="0"/>
              <a:buNone/>
            </a:pPr>
            <a:endParaRPr lang="en-US" altLang="zh-CN" sz="1400"/>
          </a:p>
        </p:txBody>
      </p:sp>
      <p:sp>
        <p:nvSpPr>
          <p:cNvPr id="27" name="流程图: 过程 26"/>
          <p:cNvSpPr/>
          <p:nvPr/>
        </p:nvSpPr>
        <p:spPr>
          <a:xfrm>
            <a:off x="7398385" y="2016760"/>
            <a:ext cx="3744595" cy="351155"/>
          </a:xfrm>
          <a:prstGeom prst="flowChartProcess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>
                <a:solidFill>
                  <a:schemeClr val="bg1"/>
                </a:solidFill>
              </a:rPr>
              <a:t>输入</a:t>
            </a:r>
            <a:r>
              <a:rPr lang="en-US" altLang="zh-CN" sz="1400">
                <a:solidFill>
                  <a:schemeClr val="bg1"/>
                </a:solidFill>
              </a:rPr>
              <a:t>partner_messages_multitime.bin</a:t>
            </a:r>
          </a:p>
        </p:txBody>
      </p:sp>
      <p:cxnSp>
        <p:nvCxnSpPr>
          <p:cNvPr id="28" name="直接箭头连接符 27"/>
          <p:cNvCxnSpPr>
            <a:stCxn id="27" idx="2"/>
          </p:cNvCxnSpPr>
          <p:nvPr/>
        </p:nvCxnSpPr>
        <p:spPr>
          <a:xfrm>
            <a:off x="9271000" y="2367915"/>
            <a:ext cx="0" cy="22479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9" name="流程图: 过程 28"/>
          <p:cNvSpPr/>
          <p:nvPr/>
        </p:nvSpPr>
        <p:spPr>
          <a:xfrm>
            <a:off x="7398385" y="2592705"/>
            <a:ext cx="3744595" cy="854075"/>
          </a:xfrm>
          <a:prstGeom prst="flowChartProcess">
            <a:avLst/>
          </a:prstGeom>
          <a:solidFill>
            <a:schemeClr val="accent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>
                <a:solidFill>
                  <a:schemeClr val="bg1"/>
                </a:solidFill>
              </a:rPr>
              <a:t>按</a:t>
            </a:r>
            <a:r>
              <a:rPr lang="en-US" altLang="zh-CN" sz="1400">
                <a:solidFill>
                  <a:schemeClr val="bg1"/>
                </a:solidFill>
              </a:rPr>
              <a:t>target_id</a:t>
            </a:r>
            <a:r>
              <a:rPr lang="zh-CN" altLang="en-US" sz="1400">
                <a:solidFill>
                  <a:schemeClr val="bg1"/>
                </a:solidFill>
              </a:rPr>
              <a:t>分组 </a:t>
            </a:r>
          </a:p>
          <a:p>
            <a:pPr algn="ctr"/>
            <a:r>
              <a:rPr lang="zh-CN" altLang="en-US" sz="1400">
                <a:solidFill>
                  <a:schemeClr val="bg1"/>
                </a:solidFill>
              </a:rPr>
              <a:t>按</a:t>
            </a:r>
            <a:r>
              <a:rPr lang="en-US" altLang="zh-CN" sz="1400">
                <a:solidFill>
                  <a:schemeClr val="bg1"/>
                </a:solidFill>
              </a:rPr>
              <a:t>timestamp</a:t>
            </a:r>
            <a:r>
              <a:rPr lang="zh-CN" altLang="en-US" sz="1400">
                <a:solidFill>
                  <a:schemeClr val="bg1"/>
                </a:solidFill>
              </a:rPr>
              <a:t>排序</a:t>
            </a:r>
          </a:p>
          <a:p>
            <a:pPr algn="ctr"/>
            <a:r>
              <a:rPr lang="en-US" altLang="zh-CN" sz="1400">
                <a:solidFill>
                  <a:schemeClr val="bg1"/>
                </a:solidFill>
              </a:rPr>
              <a:t>track_sequence_no</a:t>
            </a:r>
            <a:r>
              <a:rPr lang="zh-CN" altLang="en-US" sz="1400">
                <a:solidFill>
                  <a:schemeClr val="bg1"/>
                </a:solidFill>
              </a:rPr>
              <a:t>提取最新记录</a:t>
            </a:r>
          </a:p>
        </p:txBody>
      </p:sp>
      <p:cxnSp>
        <p:nvCxnSpPr>
          <p:cNvPr id="43" name="直接箭头连接符 42"/>
          <p:cNvCxnSpPr>
            <a:stCxn id="29" idx="2"/>
          </p:cNvCxnSpPr>
          <p:nvPr/>
        </p:nvCxnSpPr>
        <p:spPr>
          <a:xfrm>
            <a:off x="9271000" y="3446780"/>
            <a:ext cx="0" cy="22606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7" name="流程图: 过程 46"/>
          <p:cNvSpPr/>
          <p:nvPr/>
        </p:nvSpPr>
        <p:spPr>
          <a:xfrm>
            <a:off x="7398385" y="3671570"/>
            <a:ext cx="3744595" cy="1043940"/>
          </a:xfrm>
          <a:prstGeom prst="flowChartProcess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>
                <a:solidFill>
                  <a:schemeClr val="bg1"/>
                </a:solidFill>
              </a:rPr>
              <a:t>输出</a:t>
            </a:r>
            <a:r>
              <a:rPr lang="en-US" altLang="zh-CN" sz="1400">
                <a:solidFill>
                  <a:schemeClr val="bg1"/>
                </a:solidFill>
              </a:rPr>
              <a:t>track_table.csv</a:t>
            </a:r>
          </a:p>
          <a:p>
            <a:pPr algn="ctr"/>
            <a:r>
              <a:rPr lang="en-US" altLang="zh-CN" sz="1400">
                <a:solidFill>
                  <a:schemeClr val="bg1"/>
                </a:solidFill>
              </a:rPr>
              <a:t>current_situation.csv</a:t>
            </a:r>
          </a:p>
          <a:p>
            <a:pPr algn="ctr"/>
            <a:r>
              <a:rPr lang="en-US" altLang="zh-CN" sz="1400">
                <a:solidFill>
                  <a:schemeClr val="bg1"/>
                </a:solidFill>
              </a:rPr>
              <a:t>decoded_multitime.csv</a:t>
            </a:r>
          </a:p>
          <a:p>
            <a:pPr algn="ctr"/>
            <a:r>
              <a:rPr lang="en-US" altLang="zh-CN" sz="1400">
                <a:solidFill>
                  <a:schemeClr val="bg1"/>
                </a:solidFill>
              </a:rPr>
              <a:t>states.db (</a:t>
            </a:r>
            <a:r>
              <a:rPr lang="zh-CN" altLang="en-US" sz="1400">
                <a:solidFill>
                  <a:schemeClr val="bg1"/>
                </a:solidFill>
              </a:rPr>
              <a:t>选做) </a:t>
            </a: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9" grpId="1"/>
      <p:bldP spid="26" grpId="0"/>
      <p:bldP spid="26" grpId="1"/>
      <p:bldP spid="27" grpId="0" animBg="1"/>
      <p:bldP spid="27" grpId="1" animBg="1"/>
      <p:bldP spid="29" grpId="0" animBg="1"/>
      <p:bldP spid="29" grpId="1" animBg="1"/>
      <p:bldP spid="47" grpId="0" animBg="1"/>
      <p:bldP spid="47" grpId="1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组合 46"/>
          <p:cNvGrpSpPr/>
          <p:nvPr/>
        </p:nvGrpSpPr>
        <p:grpSpPr>
          <a:xfrm>
            <a:off x="335360" y="937954"/>
            <a:ext cx="11249466" cy="398888"/>
            <a:chOff x="934400" y="936575"/>
            <a:chExt cx="11249466" cy="398888"/>
          </a:xfrm>
        </p:grpSpPr>
        <p:sp>
          <p:nvSpPr>
            <p:cNvPr id="48" name="文本框 47"/>
            <p:cNvSpPr txBox="1"/>
            <p:nvPr/>
          </p:nvSpPr>
          <p:spPr>
            <a:xfrm>
              <a:off x="1065521" y="936575"/>
              <a:ext cx="1111834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zh-CN" altLang="zh-CN" dirty="0"/>
                <a:t> 语义统一 → 质量检查 → 全链集成（M4 · M5 · M6）</a:t>
              </a:r>
            </a:p>
          </p:txBody>
        </p:sp>
        <p:sp>
          <p:nvSpPr>
            <p:cNvPr id="49" name="矩形 48"/>
            <p:cNvSpPr/>
            <p:nvPr/>
          </p:nvSpPr>
          <p:spPr>
            <a:xfrm>
              <a:off x="934400" y="963997"/>
              <a:ext cx="45719" cy="371466"/>
            </a:xfrm>
            <a:prstGeom prst="rect">
              <a:avLst/>
            </a:prstGeom>
            <a:solidFill>
              <a:srgbClr val="0E41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pic>
        <p:nvPicPr>
          <p:cNvPr id="7" name="图片 6"/>
          <p:cNvPicPr/>
          <p:nvPr/>
        </p:nvPicPr>
        <p:blipFill>
          <a:blip r:embed="rId3"/>
          <a:srcRect t="32901" r="31800"/>
          <a:stretch>
            <a:fillRect/>
          </a:stretch>
        </p:blipFill>
        <p:spPr>
          <a:xfrm>
            <a:off x="6960375" y="1125410"/>
            <a:ext cx="4772637" cy="835159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260916" y="1370038"/>
            <a:ext cx="6347264" cy="44396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-342900" algn="l">
              <a:spcBef>
                <a:spcPts val="12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zh-CN" sz="1800" b="1" i="0" dirty="0">
                <a:solidFill>
                  <a:schemeClr val="tx1"/>
                </a:solidFill>
                <a:effectLst/>
                <a:latin typeface="+mn-lt"/>
              </a:rPr>
              <a:t>M4 语义统一</a:t>
            </a:r>
            <a:endParaRPr lang="en-US" altLang="zh-CN" sz="1800" b="1" i="0" dirty="0">
              <a:solidFill>
                <a:schemeClr val="tx1"/>
              </a:solidFill>
              <a:effectLst/>
              <a:latin typeface="+mn-lt"/>
            </a:endParaRPr>
          </a:p>
          <a:p>
            <a:pPr lvl="0" indent="-342900">
              <a:spcBef>
                <a:spcPts val="12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zh-CN" sz="1800" b="0" i="0" dirty="0">
                <a:solidFill>
                  <a:schemeClr val="tx1"/>
                </a:solidFill>
                <a:effectLst/>
                <a:latin typeface="+mn-lt"/>
              </a:rPr>
              <a:t>人工核验（</a:t>
            </a:r>
            <a:r>
              <a:rPr lang="zh-CN" altLang="zh-CN" dirty="0"/>
              <a:t>位置有效、时间有效和异常标志等质量字段存在未确定项</a:t>
            </a:r>
            <a:r>
              <a:rPr lang="zh-CN" altLang="zh-CN" sz="1800" b="0" i="0" dirty="0">
                <a:solidFill>
                  <a:schemeClr val="tx1"/>
                </a:solidFill>
                <a:effectLst/>
                <a:latin typeface="+mn-lt"/>
              </a:rPr>
              <a:t>）</a:t>
            </a:r>
          </a:p>
          <a:p>
            <a:pPr marL="0" marR="0" lvl="1" indent="-28575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zh-CN" sz="1800" b="0" i="0" dirty="0">
                <a:solidFill>
                  <a:schemeClr val="tx1"/>
                </a:solidFill>
                <a:effectLst/>
                <a:latin typeface="+mn-lt"/>
              </a:rPr>
              <a:t>输出：34条正式规则</a:t>
            </a:r>
            <a:endParaRPr lang="en-US" altLang="zh-CN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 lvl="1" indent="-28575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zh-CN" sz="1800" b="1" i="0" dirty="0">
                <a:solidFill>
                  <a:schemeClr val="tx1"/>
                </a:solidFill>
                <a:effectLst/>
                <a:latin typeface="+mn-lt"/>
              </a:rPr>
              <a:t>M5 质量检查</a:t>
            </a:r>
            <a:endParaRPr lang="zh-CN" altLang="zh-CN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 lvl="1" indent="-285750" algn="l"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zh-CN" sz="1800" b="0" i="0" dirty="0">
                <a:solidFill>
                  <a:schemeClr val="tx1"/>
                </a:solidFill>
                <a:effectLst/>
                <a:latin typeface="+mn-lt"/>
              </a:rPr>
              <a:t>四类必检：缺失 / 延迟(&gt;60s) / 重复/ 越界(0-360)</a:t>
            </a:r>
          </a:p>
          <a:p>
            <a:pPr marL="0" marR="0" lvl="1" indent="-28575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zh-CN" sz="1800" b="0" i="0" dirty="0">
                <a:solidFill>
                  <a:schemeClr val="tx1"/>
                </a:solidFill>
                <a:effectLst/>
                <a:latin typeface="+mn-lt"/>
              </a:rPr>
              <a:t>逐条 + 全局判断 → 5条告警（1 HIGH + 4 MEDIUM）</a:t>
            </a:r>
          </a:p>
          <a:p>
            <a:pPr marL="0" marR="0" lvl="1" indent="-28575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zh-CN" sz="1800" b="0" i="0" dirty="0">
                <a:solidFill>
                  <a:schemeClr val="tx1"/>
                </a:solidFill>
                <a:effectLst/>
                <a:latin typeface="+mn-lt"/>
              </a:rPr>
              <a:t>输出：ERROR(1) / WARNING(4) / NORMAL(1)</a:t>
            </a:r>
          </a:p>
          <a:p>
            <a:pPr marL="0" marR="0" lvl="0" indent="-342900" algn="l">
              <a:spcBef>
                <a:spcPts val="45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zh-CN" sz="1800" b="1" i="0" dirty="0">
                <a:solidFill>
                  <a:schemeClr val="tx1"/>
                </a:solidFill>
                <a:effectLst/>
                <a:latin typeface="+mn-lt"/>
              </a:rPr>
              <a:t>M6 全链串联</a:t>
            </a:r>
            <a:endParaRPr lang="en-US" altLang="zh-CN" sz="1800" b="1" i="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 lvl="0" indent="-342900" algn="l">
              <a:spcBef>
                <a:spcPts val="45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zh-CN" sz="1800" b="0" i="0" dirty="0">
                <a:solidFill>
                  <a:schemeClr val="tx1"/>
                </a:solidFill>
                <a:effectLst/>
                <a:latin typeface="+mn-lt"/>
              </a:rPr>
              <a:t>入口：run_all.py 顺序执行 M2→M5</a:t>
            </a:r>
            <a:endParaRPr lang="zh-CN" altLang="zh-CN" sz="1200" b="0" i="0" dirty="0">
              <a:solidFill>
                <a:srgbClr val="F9FAFB"/>
              </a:solidFill>
              <a:effectLst/>
              <a:latin typeface="quote-cjk-patch"/>
            </a:endParaRPr>
          </a:p>
        </p:txBody>
      </p:sp>
      <p:pic>
        <p:nvPicPr>
          <p:cNvPr id="17" name="图片 16"/>
          <p:cNvPicPr/>
          <p:nvPr/>
        </p:nvPicPr>
        <p:blipFill>
          <a:blip r:embed="rId4"/>
          <a:srcRect l="2517" t="9664" b="5955"/>
          <a:stretch>
            <a:fillRect/>
          </a:stretch>
        </p:blipFill>
        <p:spPr>
          <a:xfrm>
            <a:off x="6929259" y="2689960"/>
            <a:ext cx="4423539" cy="1784594"/>
          </a:xfrm>
          <a:prstGeom prst="rect">
            <a:avLst/>
          </a:prstGeom>
        </p:spPr>
      </p:pic>
      <p:pic>
        <p:nvPicPr>
          <p:cNvPr id="19" name="图片 1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4910" y="4537938"/>
            <a:ext cx="3886400" cy="1187511"/>
          </a:xfrm>
          <a:prstGeom prst="rect">
            <a:avLst/>
          </a:prstGeom>
        </p:spPr>
      </p:pic>
      <p:sp>
        <p:nvSpPr>
          <p:cNvPr id="21" name="文本框 20"/>
          <p:cNvSpPr txBox="1"/>
          <p:nvPr/>
        </p:nvSpPr>
        <p:spPr>
          <a:xfrm>
            <a:off x="5311347" y="5914471"/>
            <a:ext cx="676506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rgbClr val="FF0000"/>
                </a:solidFill>
              </a:rPr>
              <a:t>OpenSky状态数组→ 字段解析与回退→ 发送方内部记录→ 41字节帧封装→ 模拟传输→ 接收校验与解码</a:t>
            </a:r>
            <a:r>
              <a:rPr lang="zh-CN" altLang="en-US" sz="1200" dirty="0"/>
              <a:t>→</a:t>
            </a:r>
            <a:r>
              <a:rPr lang="zh-CN" altLang="en-US" sz="1200" dirty="0">
                <a:solidFill>
                  <a:schemeClr val="accent1"/>
                </a:solidFill>
              </a:rPr>
              <a:t>CSV/SQLite存储→ 航迹与当前态势</a:t>
            </a:r>
          </a:p>
          <a:p>
            <a:r>
              <a:rPr lang="zh-CN" altLang="en-US" sz="1200" dirty="0">
                <a:solidFill>
                  <a:schemeClr val="accent2">
                    <a:lumMod val="75000"/>
                  </a:schemeClr>
                </a:solidFill>
              </a:rPr>
              <a:t>双来源语义映射→ 统一态势消息</a:t>
            </a:r>
            <a:r>
              <a:rPr lang="zh-CN" altLang="en-US" sz="1200" dirty="0"/>
              <a:t>→ 一致性检查→ 告警与质量态势</a:t>
            </a:r>
          </a:p>
        </p:txBody>
      </p:sp>
      <p:grpSp>
        <p:nvGrpSpPr>
          <p:cNvPr id="39" name="组合 38"/>
          <p:cNvGrpSpPr/>
          <p:nvPr/>
        </p:nvGrpSpPr>
        <p:grpSpPr>
          <a:xfrm>
            <a:off x="0" y="1"/>
            <a:ext cx="12192000" cy="711200"/>
            <a:chOff x="0" y="1"/>
            <a:chExt cx="12192000" cy="711200"/>
          </a:xfrm>
        </p:grpSpPr>
        <p:sp>
          <p:nvSpPr>
            <p:cNvPr id="40" name="矩形 39"/>
            <p:cNvSpPr/>
            <p:nvPr/>
          </p:nvSpPr>
          <p:spPr>
            <a:xfrm>
              <a:off x="0" y="1"/>
              <a:ext cx="12192000" cy="650874"/>
            </a:xfrm>
            <a:prstGeom prst="rect">
              <a:avLst/>
            </a:prstGeom>
            <a:solidFill>
              <a:srgbClr val="0E41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41" name="组合 40"/>
            <p:cNvGrpSpPr/>
            <p:nvPr/>
          </p:nvGrpSpPr>
          <p:grpSpPr>
            <a:xfrm>
              <a:off x="5320779" y="159473"/>
              <a:ext cx="6318336" cy="368300"/>
              <a:chOff x="4977879" y="299173"/>
              <a:chExt cx="6318336" cy="368300"/>
            </a:xfrm>
          </p:grpSpPr>
          <p:sp>
            <p:nvSpPr>
              <p:cNvPr id="44" name="文本框 43"/>
              <p:cNvSpPr txBox="1"/>
              <p:nvPr/>
            </p:nvSpPr>
            <p:spPr>
              <a:xfrm>
                <a:off x="5223501" y="299173"/>
                <a:ext cx="496570" cy="3683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solidFill>
                      <a:schemeClr val="bg1"/>
                    </a:solidFill>
                    <a:latin typeface="思源黑体 CN Regular" panose="020B0500000000000000" pitchFamily="34" charset="-122"/>
                    <a:ea typeface="思源黑体 CN Regular" panose="020B0500000000000000" pitchFamily="34" charset="-122"/>
                  </a:rPr>
                  <a:t>M1</a:t>
                </a:r>
              </a:p>
            </p:txBody>
          </p:sp>
          <p:sp>
            <p:nvSpPr>
              <p:cNvPr id="45" name="文本框 44"/>
              <p:cNvSpPr txBox="1"/>
              <p:nvPr/>
            </p:nvSpPr>
            <p:spPr>
              <a:xfrm>
                <a:off x="6950981" y="299173"/>
                <a:ext cx="496570" cy="3683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solidFill>
                      <a:schemeClr val="bg1"/>
                    </a:solidFill>
                    <a:latin typeface="思源黑体 CN Regular" panose="020B0500000000000000" pitchFamily="34" charset="-122"/>
                    <a:ea typeface="思源黑体 CN Regular" panose="020B0500000000000000" pitchFamily="34" charset="-122"/>
                  </a:rPr>
                  <a:t>M2</a:t>
                </a:r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8678461" y="299173"/>
                <a:ext cx="496570" cy="3683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solidFill>
                      <a:schemeClr val="bg1"/>
                    </a:solidFill>
                    <a:latin typeface="思源黑体 CN Regular" panose="020B0500000000000000" pitchFamily="34" charset="-122"/>
                    <a:ea typeface="思源黑体 CN Regular" panose="020B0500000000000000" pitchFamily="34" charset="-122"/>
                  </a:rPr>
                  <a:t>M3</a:t>
                </a:r>
              </a:p>
            </p:txBody>
          </p:sp>
          <p:sp>
            <p:nvSpPr>
              <p:cNvPr id="2" name="文本框 1"/>
              <p:cNvSpPr txBox="1"/>
              <p:nvPr/>
            </p:nvSpPr>
            <p:spPr>
              <a:xfrm>
                <a:off x="10405945" y="299173"/>
                <a:ext cx="890270" cy="3683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solidFill>
                      <a:schemeClr val="bg1"/>
                    </a:solidFill>
                    <a:latin typeface="思源黑体 CN Regular" panose="020B0500000000000000" pitchFamily="34" charset="-122"/>
                    <a:ea typeface="思源黑体 CN Regular" panose="020B0500000000000000" pitchFamily="34" charset="-122"/>
                  </a:rPr>
                  <a:t>M4-M6</a:t>
                </a:r>
              </a:p>
            </p:txBody>
          </p:sp>
          <p:cxnSp>
            <p:nvCxnSpPr>
              <p:cNvPr id="4" name="直接连接符 3"/>
              <p:cNvCxnSpPr/>
              <p:nvPr/>
            </p:nvCxnSpPr>
            <p:spPr>
              <a:xfrm>
                <a:off x="6705359" y="365275"/>
                <a:ext cx="0" cy="301705"/>
              </a:xfrm>
              <a:prstGeom prst="line">
                <a:avLst/>
              </a:prstGeom>
              <a:ln w="31750"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" name="直接连接符 4"/>
              <p:cNvCxnSpPr/>
              <p:nvPr/>
            </p:nvCxnSpPr>
            <p:spPr>
              <a:xfrm>
                <a:off x="4977879" y="365275"/>
                <a:ext cx="0" cy="301705"/>
              </a:xfrm>
              <a:prstGeom prst="line">
                <a:avLst/>
              </a:prstGeom>
              <a:ln w="31750"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直接连接符 50"/>
              <p:cNvCxnSpPr/>
              <p:nvPr/>
            </p:nvCxnSpPr>
            <p:spPr>
              <a:xfrm>
                <a:off x="8432839" y="365275"/>
                <a:ext cx="0" cy="301705"/>
              </a:xfrm>
              <a:prstGeom prst="line">
                <a:avLst/>
              </a:prstGeom>
              <a:ln w="31750"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直接连接符 5"/>
              <p:cNvCxnSpPr/>
              <p:nvPr/>
            </p:nvCxnSpPr>
            <p:spPr>
              <a:xfrm>
                <a:off x="10160319" y="365275"/>
                <a:ext cx="0" cy="301705"/>
              </a:xfrm>
              <a:prstGeom prst="line">
                <a:avLst/>
              </a:prstGeom>
              <a:ln w="31750"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2" name="等腰三角形 41"/>
            <p:cNvSpPr/>
            <p:nvPr/>
          </p:nvSpPr>
          <p:spPr>
            <a:xfrm>
              <a:off x="10764882" y="561975"/>
              <a:ext cx="818588" cy="149226"/>
            </a:xfrm>
            <a:prstGeom prst="triangle">
              <a:avLst>
                <a:gd name="adj" fmla="val 50385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custDataLst>
      <p:tags r:id="rId1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Object"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组合 38"/>
          <p:cNvGrpSpPr/>
          <p:nvPr/>
        </p:nvGrpSpPr>
        <p:grpSpPr>
          <a:xfrm>
            <a:off x="0" y="1"/>
            <a:ext cx="12192000" cy="711200"/>
            <a:chOff x="0" y="1"/>
            <a:chExt cx="12192000" cy="711200"/>
          </a:xfrm>
        </p:grpSpPr>
        <p:sp>
          <p:nvSpPr>
            <p:cNvPr id="40" name="矩形 39"/>
            <p:cNvSpPr/>
            <p:nvPr/>
          </p:nvSpPr>
          <p:spPr>
            <a:xfrm>
              <a:off x="0" y="1"/>
              <a:ext cx="12192000" cy="650874"/>
            </a:xfrm>
            <a:prstGeom prst="rect">
              <a:avLst/>
            </a:prstGeom>
            <a:solidFill>
              <a:srgbClr val="0E41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41" name="组合 40"/>
            <p:cNvGrpSpPr/>
            <p:nvPr/>
          </p:nvGrpSpPr>
          <p:grpSpPr>
            <a:xfrm>
              <a:off x="5320779" y="159473"/>
              <a:ext cx="6318336" cy="368300"/>
              <a:chOff x="4977879" y="299173"/>
              <a:chExt cx="6318336" cy="368300"/>
            </a:xfrm>
          </p:grpSpPr>
          <p:sp>
            <p:nvSpPr>
              <p:cNvPr id="44" name="文本框 43"/>
              <p:cNvSpPr txBox="1"/>
              <p:nvPr/>
            </p:nvSpPr>
            <p:spPr>
              <a:xfrm>
                <a:off x="5223501" y="299173"/>
                <a:ext cx="496570" cy="3683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solidFill>
                      <a:schemeClr val="bg1"/>
                    </a:solidFill>
                    <a:latin typeface="思源黑体 CN Regular" panose="020B0500000000000000" pitchFamily="34" charset="-122"/>
                    <a:ea typeface="思源黑体 CN Regular" panose="020B0500000000000000" pitchFamily="34" charset="-122"/>
                  </a:rPr>
                  <a:t>M1</a:t>
                </a:r>
              </a:p>
            </p:txBody>
          </p:sp>
          <p:sp>
            <p:nvSpPr>
              <p:cNvPr id="45" name="文本框 44"/>
              <p:cNvSpPr txBox="1"/>
              <p:nvPr/>
            </p:nvSpPr>
            <p:spPr>
              <a:xfrm>
                <a:off x="6950981" y="299173"/>
                <a:ext cx="496570" cy="3683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solidFill>
                      <a:schemeClr val="bg1"/>
                    </a:solidFill>
                    <a:latin typeface="思源黑体 CN Regular" panose="020B0500000000000000" pitchFamily="34" charset="-122"/>
                    <a:ea typeface="思源黑体 CN Regular" panose="020B0500000000000000" pitchFamily="34" charset="-122"/>
                  </a:rPr>
                  <a:t>M2</a:t>
                </a:r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8678461" y="299173"/>
                <a:ext cx="496570" cy="3683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solidFill>
                      <a:schemeClr val="bg1"/>
                    </a:solidFill>
                    <a:latin typeface="思源黑体 CN Regular" panose="020B0500000000000000" pitchFamily="34" charset="-122"/>
                    <a:ea typeface="思源黑体 CN Regular" panose="020B0500000000000000" pitchFamily="34" charset="-122"/>
                  </a:rPr>
                  <a:t>M3</a:t>
                </a:r>
              </a:p>
            </p:txBody>
          </p:sp>
          <p:sp>
            <p:nvSpPr>
              <p:cNvPr id="2" name="文本框 1"/>
              <p:cNvSpPr txBox="1"/>
              <p:nvPr/>
            </p:nvSpPr>
            <p:spPr>
              <a:xfrm>
                <a:off x="10405945" y="299173"/>
                <a:ext cx="890270" cy="3683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solidFill>
                      <a:schemeClr val="bg1"/>
                    </a:solidFill>
                    <a:latin typeface="思源黑体 CN Regular" panose="020B0500000000000000" pitchFamily="34" charset="-122"/>
                    <a:ea typeface="思源黑体 CN Regular" panose="020B0500000000000000" pitchFamily="34" charset="-122"/>
                  </a:rPr>
                  <a:t>M4-M6</a:t>
                </a:r>
              </a:p>
            </p:txBody>
          </p:sp>
          <p:cxnSp>
            <p:nvCxnSpPr>
              <p:cNvPr id="4" name="直接连接符 3"/>
              <p:cNvCxnSpPr/>
              <p:nvPr/>
            </p:nvCxnSpPr>
            <p:spPr>
              <a:xfrm>
                <a:off x="6705359" y="365275"/>
                <a:ext cx="0" cy="301705"/>
              </a:xfrm>
              <a:prstGeom prst="line">
                <a:avLst/>
              </a:prstGeom>
              <a:ln w="31750"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" name="直接连接符 4"/>
              <p:cNvCxnSpPr/>
              <p:nvPr/>
            </p:nvCxnSpPr>
            <p:spPr>
              <a:xfrm>
                <a:off x="4977879" y="365275"/>
                <a:ext cx="0" cy="301705"/>
              </a:xfrm>
              <a:prstGeom prst="line">
                <a:avLst/>
              </a:prstGeom>
              <a:ln w="31750"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直接连接符 50"/>
              <p:cNvCxnSpPr/>
              <p:nvPr/>
            </p:nvCxnSpPr>
            <p:spPr>
              <a:xfrm>
                <a:off x="8432839" y="365275"/>
                <a:ext cx="0" cy="301705"/>
              </a:xfrm>
              <a:prstGeom prst="line">
                <a:avLst/>
              </a:prstGeom>
              <a:ln w="31750"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直接连接符 5"/>
              <p:cNvCxnSpPr/>
              <p:nvPr/>
            </p:nvCxnSpPr>
            <p:spPr>
              <a:xfrm>
                <a:off x="10160319" y="365275"/>
                <a:ext cx="0" cy="301705"/>
              </a:xfrm>
              <a:prstGeom prst="line">
                <a:avLst/>
              </a:prstGeom>
              <a:ln w="31750"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2" name="等腰三角形 41"/>
            <p:cNvSpPr/>
            <p:nvPr/>
          </p:nvSpPr>
          <p:spPr>
            <a:xfrm>
              <a:off x="10764882" y="561975"/>
              <a:ext cx="818588" cy="149226"/>
            </a:xfrm>
            <a:prstGeom prst="triangle">
              <a:avLst>
                <a:gd name="adj" fmla="val 50385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pic>
        <p:nvPicPr>
          <p:cNvPr id="3" name="图片 2"/>
          <p:cNvPicPr>
            <a:picLocks noChangeAspect="1"/>
          </p:cNvPicPr>
          <p:nvPr/>
        </p:nvPicPr>
        <p:blipFill>
          <a:blip r:embed="rId3"/>
          <a:srcRect t="-1224" r="39810"/>
          <a:stretch>
            <a:fillRect/>
          </a:stretch>
        </p:blipFill>
        <p:spPr>
          <a:xfrm>
            <a:off x="99695" y="1363345"/>
            <a:ext cx="5507355" cy="815975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479425" y="694055"/>
            <a:ext cx="5058410" cy="545465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r>
              <a:rPr lang="en-US" altLang="zh-CN" sz="1600"/>
              <a:t>1. M2 </a:t>
            </a:r>
            <a:r>
              <a:rPr lang="zh-CN" altLang="en-US" sz="1600"/>
              <a:t>编解码：下图为</a:t>
            </a:r>
            <a:r>
              <a:rPr lang="en-US" altLang="zh-CN" sz="1600"/>
              <a:t>decoded_partner_states.csv</a:t>
            </a:r>
            <a:r>
              <a:rPr lang="zh-CN" altLang="en-US" sz="1600"/>
              <a:t>，展示二进制帧解码后的结构化结果</a:t>
            </a:r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4"/>
          <a:srcRect l="51182"/>
          <a:stretch>
            <a:fillRect/>
          </a:stretch>
        </p:blipFill>
        <p:spPr>
          <a:xfrm>
            <a:off x="119380" y="2303145"/>
            <a:ext cx="5487670" cy="904875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1135" y="4149090"/>
            <a:ext cx="6449695" cy="1526540"/>
          </a:xfrm>
          <a:prstGeom prst="rect">
            <a:avLst/>
          </a:prstGeom>
        </p:spPr>
      </p:pic>
      <p:sp>
        <p:nvSpPr>
          <p:cNvPr id="14" name="文本框 13"/>
          <p:cNvSpPr txBox="1"/>
          <p:nvPr/>
        </p:nvSpPr>
        <p:spPr>
          <a:xfrm>
            <a:off x="391160" y="3547745"/>
            <a:ext cx="5175250" cy="38862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r>
              <a:rPr lang="en-US" altLang="zh-CN" sz="1600"/>
              <a:t>2. M2 </a:t>
            </a:r>
            <a:r>
              <a:rPr lang="zh-CN" altLang="en-US" sz="1600"/>
              <a:t>校验：下图为</a:t>
            </a:r>
            <a:r>
              <a:rPr lang="en-US" altLang="zh-CN" sz="1600"/>
              <a:t>validation_log.csv</a:t>
            </a:r>
            <a:r>
              <a:rPr lang="zh-CN" altLang="en-US" sz="1600"/>
              <a:t>，展示异常帧/错误字段能被识别，不只是“正常跑通”</a:t>
            </a:r>
          </a:p>
        </p:txBody>
      </p:sp>
      <p:sp>
        <p:nvSpPr>
          <p:cNvPr id="7" name="文本框 6"/>
          <p:cNvSpPr txBox="1"/>
          <p:nvPr/>
        </p:nvSpPr>
        <p:spPr>
          <a:xfrm>
            <a:off x="6004560" y="694055"/>
            <a:ext cx="10046335" cy="3371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600"/>
              <a:t>3. M3</a:t>
            </a:r>
            <a:r>
              <a:rPr lang="zh-CN" altLang="en-US" sz="1600"/>
              <a:t>航迹图与当前态势</a:t>
            </a:r>
          </a:p>
        </p:txBody>
      </p:sp>
      <p:pic>
        <p:nvPicPr>
          <p:cNvPr id="9" name="图片 8" descr="m3_trajectory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3655" y="1038860"/>
            <a:ext cx="5025390" cy="162560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61660" y="2924810"/>
            <a:ext cx="6564630" cy="533400"/>
          </a:xfrm>
          <a:prstGeom prst="rect">
            <a:avLst/>
          </a:prstGeom>
        </p:spPr>
      </p:pic>
      <p:sp>
        <p:nvSpPr>
          <p:cNvPr id="13" name="文本框 12"/>
          <p:cNvSpPr txBox="1"/>
          <p:nvPr/>
        </p:nvSpPr>
        <p:spPr>
          <a:xfrm>
            <a:off x="6714490" y="3458210"/>
            <a:ext cx="4458970" cy="37401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 lang="en-US" altLang="zh-CN" sz="1600" i="1"/>
              <a:t>current_situation.csv</a:t>
            </a:r>
            <a:r>
              <a:rPr lang="zh-CN" altLang="en-US" sz="1600" i="1"/>
              <a:t>：3 个目标的最新态势</a:t>
            </a:r>
          </a:p>
        </p:txBody>
      </p:sp>
      <p:sp>
        <p:nvSpPr>
          <p:cNvPr id="15" name="文本框 14"/>
          <p:cNvSpPr txBox="1"/>
          <p:nvPr/>
        </p:nvSpPr>
        <p:spPr>
          <a:xfrm>
            <a:off x="6600190" y="3933190"/>
            <a:ext cx="3851910" cy="30861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r>
              <a:rPr lang="en-US" altLang="zh-CN" sz="1600"/>
              <a:t>4. M4</a:t>
            </a:r>
            <a:r>
              <a:rPr lang="zh-CN" altLang="en-US" sz="1600"/>
              <a:t>映射规则表（</a:t>
            </a:r>
            <a:r>
              <a:rPr lang="en-US" altLang="zh-CN" sz="1600"/>
              <a:t>17*2=34</a:t>
            </a:r>
            <a:r>
              <a:rPr lang="zh-CN" altLang="en-US" sz="1600"/>
              <a:t>条）和结果</a:t>
            </a:r>
          </a:p>
        </p:txBody>
      </p:sp>
      <p:pic>
        <p:nvPicPr>
          <p:cNvPr id="16" name="图片 1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80505" y="4221480"/>
            <a:ext cx="5502275" cy="787400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767080" y="6237605"/>
            <a:ext cx="2623820" cy="35433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r>
              <a:rPr lang="en-US" altLang="zh-CN" sz="1600"/>
              <a:t>5. M5</a:t>
            </a:r>
            <a:r>
              <a:rPr lang="zh-CN" altLang="en-US" sz="1600"/>
              <a:t>告警：</a:t>
            </a:r>
            <a:r>
              <a:rPr lang="en-US" altLang="zh-CN" sz="1600"/>
              <a:t>alert_log.csv</a:t>
            </a:r>
            <a:endParaRPr lang="zh-CN" altLang="en-US" sz="1600"/>
          </a:p>
        </p:txBody>
      </p:sp>
      <p:pic>
        <p:nvPicPr>
          <p:cNvPr id="18" name="图片 17"/>
          <p:cNvPicPr>
            <a:picLocks noChangeAspect="1"/>
          </p:cNvPicPr>
          <p:nvPr/>
        </p:nvPicPr>
        <p:blipFill>
          <a:blip r:embed="rId9"/>
          <a:srcRect r="10481"/>
          <a:stretch>
            <a:fillRect/>
          </a:stretch>
        </p:blipFill>
        <p:spPr>
          <a:xfrm>
            <a:off x="3418840" y="5793105"/>
            <a:ext cx="8728075" cy="999490"/>
          </a:xfrm>
          <a:prstGeom prst="rect">
            <a:avLst/>
          </a:prstGeom>
        </p:spPr>
      </p:pic>
      <p:pic>
        <p:nvPicPr>
          <p:cNvPr id="19" name="图片 18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87845" y="5069205"/>
            <a:ext cx="4893945" cy="663575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25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25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2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2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25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25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2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2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25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2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2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25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2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2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25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25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25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25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2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2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25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2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2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25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2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2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25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2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2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25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2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2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8" grpId="1"/>
      <p:bldP spid="14" grpId="0"/>
      <p:bldP spid="14" grpId="1"/>
      <p:bldP spid="7" grpId="0"/>
      <p:bldP spid="7" grpId="1"/>
      <p:bldP spid="13" grpId="0"/>
      <p:bldP spid="13" grpId="1"/>
      <p:bldP spid="15" grpId="0"/>
      <p:bldP spid="15" grpId="1"/>
      <p:bldP spid="17" grpId="0"/>
      <p:bldP spid="17" grpId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>
            <a:extLst>
              <a:ext uri="{FF2B5EF4-FFF2-40B4-BE49-F238E27FC236}">
                <a16:creationId xmlns:a16="http://schemas.microsoft.com/office/drawing/2014/main" id="{A7C47E6F-217F-F6BE-5BCB-21984D62CC26}"/>
              </a:ext>
            </a:extLst>
          </p:cNvPr>
          <p:cNvGrpSpPr/>
          <p:nvPr/>
        </p:nvGrpSpPr>
        <p:grpSpPr>
          <a:xfrm>
            <a:off x="339694" y="3567292"/>
            <a:ext cx="4543450" cy="2584644"/>
            <a:chOff x="676567" y="1626982"/>
            <a:chExt cx="6787487" cy="15090543"/>
          </a:xfrm>
        </p:grpSpPr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FBFA2BA1-185D-8755-8647-82D55C2A33B7}"/>
                </a:ext>
              </a:extLst>
            </p:cNvPr>
            <p:cNvSpPr txBox="1"/>
            <p:nvPr/>
          </p:nvSpPr>
          <p:spPr>
            <a:xfrm>
              <a:off x="676567" y="12261185"/>
              <a:ext cx="6787487" cy="44563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4800" spc="600" dirty="0">
                  <a:solidFill>
                    <a:schemeClr val="bg1"/>
                  </a:solidFill>
                  <a:cs typeface="+mn-ea"/>
                  <a:sym typeface="+mn-lt"/>
                </a:rPr>
                <a:t>毕业论文答板</a:t>
              </a:r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E6CAA74D-9F8B-C8AB-281A-6BE13005E74D}"/>
                </a:ext>
              </a:extLst>
            </p:cNvPr>
            <p:cNvSpPr txBox="1"/>
            <p:nvPr/>
          </p:nvSpPr>
          <p:spPr>
            <a:xfrm>
              <a:off x="980119" y="3195224"/>
              <a:ext cx="5089078" cy="278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 spc="600" dirty="0">
                  <a:solidFill>
                    <a:schemeClr val="bg1"/>
                  </a:solidFill>
                  <a:cs typeface="+mn-ea"/>
                  <a:sym typeface="+mn-lt"/>
                </a:rPr>
                <a:t>Graduation thesis defense template</a:t>
              </a:r>
              <a:endParaRPr lang="zh-CN" altLang="en-US" sz="1400" spc="600" dirty="0">
                <a:solidFill>
                  <a:schemeClr val="bg1"/>
                </a:solidFill>
                <a:cs typeface="+mn-ea"/>
                <a:sym typeface="+mn-lt"/>
              </a:endParaRPr>
            </a:p>
          </p:txBody>
        </p:sp>
        <p:sp>
          <p:nvSpPr>
            <p:cNvPr id="12" name="矩形: 圆角 11">
              <a:extLst>
                <a:ext uri="{FF2B5EF4-FFF2-40B4-BE49-F238E27FC236}">
                  <a16:creationId xmlns:a16="http://schemas.microsoft.com/office/drawing/2014/main" id="{2A99277E-D160-9F25-081B-01CE99CE5E28}"/>
                </a:ext>
              </a:extLst>
            </p:cNvPr>
            <p:cNvSpPr/>
            <p:nvPr/>
          </p:nvSpPr>
          <p:spPr>
            <a:xfrm>
              <a:off x="699206" y="1626982"/>
              <a:ext cx="5234666" cy="4237676"/>
            </a:xfrm>
            <a:prstGeom prst="roundRect">
              <a:avLst>
                <a:gd name="adj" fmla="val 3675"/>
              </a:avLst>
            </a:prstGeom>
            <a:solidFill>
              <a:schemeClr val="accent1"/>
            </a:solidFill>
            <a:ln>
              <a:noFill/>
            </a:ln>
            <a:effectLst>
              <a:outerShdw blurRad="304800" dist="127000" dir="2700000" algn="tl" rotWithShape="0">
                <a:schemeClr val="accent1">
                  <a:lumMod val="50000"/>
                  <a:alpha val="4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cs typeface="+mn-ea"/>
                <a:sym typeface="+mn-lt"/>
              </a:endParaRPr>
            </a:p>
          </p:txBody>
        </p:sp>
        <p:sp>
          <p:nvSpPr>
            <p:cNvPr id="14" name="矩形: 圆角 13">
              <a:extLst>
                <a:ext uri="{FF2B5EF4-FFF2-40B4-BE49-F238E27FC236}">
                  <a16:creationId xmlns:a16="http://schemas.microsoft.com/office/drawing/2014/main" id="{6534D231-2262-E5D0-C8F8-0A4929FF95E4}"/>
                </a:ext>
              </a:extLst>
            </p:cNvPr>
            <p:cNvSpPr/>
            <p:nvPr/>
          </p:nvSpPr>
          <p:spPr>
            <a:xfrm>
              <a:off x="699206" y="1756133"/>
              <a:ext cx="5234666" cy="4237676"/>
            </a:xfrm>
            <a:prstGeom prst="roundRect">
              <a:avLst>
                <a:gd name="adj" fmla="val 3675"/>
              </a:avLst>
            </a:prstGeom>
            <a:solidFill>
              <a:schemeClr val="bg1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cs typeface="+mn-ea"/>
                <a:sym typeface="+mn-lt"/>
              </a:endParaRPr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12E00B0F-5625-F592-22DC-ECADDAAED12F}"/>
                </a:ext>
              </a:extLst>
            </p:cNvPr>
            <p:cNvSpPr txBox="1"/>
            <p:nvPr/>
          </p:nvSpPr>
          <p:spPr>
            <a:xfrm>
              <a:off x="1087448" y="3163082"/>
              <a:ext cx="1040928" cy="2550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+mn-ea"/>
                <a:sym typeface="+mn-lt"/>
              </a:endParaRPr>
            </a:p>
          </p:txBody>
        </p:sp>
      </p:grpSp>
      <p:grpSp>
        <p:nvGrpSpPr>
          <p:cNvPr id="39" name="组合 38"/>
          <p:cNvGrpSpPr/>
          <p:nvPr/>
        </p:nvGrpSpPr>
        <p:grpSpPr>
          <a:xfrm>
            <a:off x="0" y="1"/>
            <a:ext cx="12192000" cy="711200"/>
            <a:chOff x="0" y="1"/>
            <a:chExt cx="12192000" cy="711200"/>
          </a:xfrm>
        </p:grpSpPr>
        <p:sp>
          <p:nvSpPr>
            <p:cNvPr id="40" name="矩形 39"/>
            <p:cNvSpPr/>
            <p:nvPr/>
          </p:nvSpPr>
          <p:spPr>
            <a:xfrm>
              <a:off x="0" y="1"/>
              <a:ext cx="12192000" cy="650874"/>
            </a:xfrm>
            <a:prstGeom prst="rect">
              <a:avLst/>
            </a:prstGeom>
            <a:solidFill>
              <a:srgbClr val="0E41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41" name="组合 40"/>
            <p:cNvGrpSpPr/>
            <p:nvPr/>
          </p:nvGrpSpPr>
          <p:grpSpPr>
            <a:xfrm>
              <a:off x="5320779" y="159473"/>
              <a:ext cx="6318336" cy="368300"/>
              <a:chOff x="4977879" y="299173"/>
              <a:chExt cx="6318336" cy="368300"/>
            </a:xfrm>
          </p:grpSpPr>
          <p:sp>
            <p:nvSpPr>
              <p:cNvPr id="44" name="文本框 43"/>
              <p:cNvSpPr txBox="1"/>
              <p:nvPr/>
            </p:nvSpPr>
            <p:spPr>
              <a:xfrm>
                <a:off x="5223501" y="299173"/>
                <a:ext cx="496570" cy="3683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solidFill>
                      <a:schemeClr val="bg1"/>
                    </a:solidFill>
                    <a:latin typeface="思源黑体 CN Regular" panose="020B0500000000000000" pitchFamily="34" charset="-122"/>
                    <a:ea typeface="思源黑体 CN Regular" panose="020B0500000000000000" pitchFamily="34" charset="-122"/>
                  </a:rPr>
                  <a:t>M1</a:t>
                </a:r>
              </a:p>
            </p:txBody>
          </p:sp>
          <p:sp>
            <p:nvSpPr>
              <p:cNvPr id="45" name="文本框 44"/>
              <p:cNvSpPr txBox="1"/>
              <p:nvPr/>
            </p:nvSpPr>
            <p:spPr>
              <a:xfrm>
                <a:off x="6950981" y="299173"/>
                <a:ext cx="496570" cy="3683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solidFill>
                      <a:schemeClr val="bg1"/>
                    </a:solidFill>
                    <a:latin typeface="思源黑体 CN Regular" panose="020B0500000000000000" pitchFamily="34" charset="-122"/>
                    <a:ea typeface="思源黑体 CN Regular" panose="020B0500000000000000" pitchFamily="34" charset="-122"/>
                  </a:rPr>
                  <a:t>M2</a:t>
                </a:r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8678461" y="299173"/>
                <a:ext cx="496570" cy="3683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solidFill>
                      <a:schemeClr val="bg1"/>
                    </a:solidFill>
                    <a:latin typeface="思源黑体 CN Regular" panose="020B0500000000000000" pitchFamily="34" charset="-122"/>
                    <a:ea typeface="思源黑体 CN Regular" panose="020B0500000000000000" pitchFamily="34" charset="-122"/>
                  </a:rPr>
                  <a:t>M3</a:t>
                </a:r>
              </a:p>
            </p:txBody>
          </p:sp>
          <p:sp>
            <p:nvSpPr>
              <p:cNvPr id="2" name="文本框 1"/>
              <p:cNvSpPr txBox="1"/>
              <p:nvPr/>
            </p:nvSpPr>
            <p:spPr>
              <a:xfrm>
                <a:off x="10405945" y="299173"/>
                <a:ext cx="890270" cy="3683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solidFill>
                      <a:schemeClr val="bg1"/>
                    </a:solidFill>
                    <a:latin typeface="思源黑体 CN Regular" panose="020B0500000000000000" pitchFamily="34" charset="-122"/>
                    <a:ea typeface="思源黑体 CN Regular" panose="020B0500000000000000" pitchFamily="34" charset="-122"/>
                  </a:rPr>
                  <a:t>M4-M6</a:t>
                </a:r>
              </a:p>
            </p:txBody>
          </p:sp>
          <p:cxnSp>
            <p:nvCxnSpPr>
              <p:cNvPr id="4" name="直接连接符 3"/>
              <p:cNvCxnSpPr/>
              <p:nvPr/>
            </p:nvCxnSpPr>
            <p:spPr>
              <a:xfrm>
                <a:off x="6705359" y="365275"/>
                <a:ext cx="0" cy="301705"/>
              </a:xfrm>
              <a:prstGeom prst="line">
                <a:avLst/>
              </a:prstGeom>
              <a:ln w="31750"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" name="直接连接符 4"/>
              <p:cNvCxnSpPr/>
              <p:nvPr/>
            </p:nvCxnSpPr>
            <p:spPr>
              <a:xfrm>
                <a:off x="4977879" y="365275"/>
                <a:ext cx="0" cy="301705"/>
              </a:xfrm>
              <a:prstGeom prst="line">
                <a:avLst/>
              </a:prstGeom>
              <a:ln w="31750"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直接连接符 50"/>
              <p:cNvCxnSpPr/>
              <p:nvPr/>
            </p:nvCxnSpPr>
            <p:spPr>
              <a:xfrm>
                <a:off x="8432839" y="365275"/>
                <a:ext cx="0" cy="301705"/>
              </a:xfrm>
              <a:prstGeom prst="line">
                <a:avLst/>
              </a:prstGeom>
              <a:ln w="31750"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直接连接符 5"/>
              <p:cNvCxnSpPr/>
              <p:nvPr/>
            </p:nvCxnSpPr>
            <p:spPr>
              <a:xfrm>
                <a:off x="10160319" y="365275"/>
                <a:ext cx="0" cy="301705"/>
              </a:xfrm>
              <a:prstGeom prst="line">
                <a:avLst/>
              </a:prstGeom>
              <a:ln w="31750"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2" name="等腰三角形 41"/>
            <p:cNvSpPr/>
            <p:nvPr/>
          </p:nvSpPr>
          <p:spPr>
            <a:xfrm>
              <a:off x="10764882" y="561975"/>
              <a:ext cx="818588" cy="149226"/>
            </a:xfrm>
            <a:prstGeom prst="triangle">
              <a:avLst>
                <a:gd name="adj" fmla="val 50385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31" name="文本框 82"/>
          <p:cNvSpPr txBox="1"/>
          <p:nvPr/>
        </p:nvSpPr>
        <p:spPr>
          <a:xfrm>
            <a:off x="1127172" y="836769"/>
            <a:ext cx="1735981" cy="40011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>
            <a:defPPr>
              <a:defRPr lang="zh-CN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zh-CN" altLang="en-US" sz="2000" b="1" dirty="0">
                <a:solidFill>
                  <a:srgbClr val="4472C4"/>
                </a:solidFill>
                <a:cs typeface="+mn-ea"/>
                <a:sym typeface="+mn-lt"/>
              </a:rPr>
              <a:t>遇到的问题</a:t>
            </a:r>
          </a:p>
        </p:txBody>
      </p:sp>
      <p:sp>
        <p:nvSpPr>
          <p:cNvPr id="35" name="iconfont-1192-742827"/>
          <p:cNvSpPr/>
          <p:nvPr/>
        </p:nvSpPr>
        <p:spPr>
          <a:xfrm>
            <a:off x="771884" y="907041"/>
            <a:ext cx="267336" cy="268131"/>
          </a:xfrm>
          <a:custGeom>
            <a:avLst/>
            <a:gdLst>
              <a:gd name="T0" fmla="*/ 8264 w 11898"/>
              <a:gd name="T1" fmla="*/ 11934 h 11934"/>
              <a:gd name="T2" fmla="*/ 6604 w 11898"/>
              <a:gd name="T3" fmla="*/ 7046 h 11934"/>
              <a:gd name="T4" fmla="*/ 7084 w 11898"/>
              <a:gd name="T5" fmla="*/ 6641 h 11934"/>
              <a:gd name="T6" fmla="*/ 11898 w 11898"/>
              <a:gd name="T7" fmla="*/ 8301 h 11934"/>
              <a:gd name="T8" fmla="*/ 10238 w 11898"/>
              <a:gd name="T9" fmla="*/ 11934 h 11934"/>
              <a:gd name="T10" fmla="*/ 7323 w 11898"/>
              <a:gd name="T11" fmla="*/ 10274 h 11934"/>
              <a:gd name="T12" fmla="*/ 10219 w 11898"/>
              <a:gd name="T13" fmla="*/ 11197 h 11934"/>
              <a:gd name="T14" fmla="*/ 11142 w 11898"/>
              <a:gd name="T15" fmla="*/ 8301 h 11934"/>
              <a:gd name="T16" fmla="*/ 7323 w 11898"/>
              <a:gd name="T17" fmla="*/ 7378 h 11934"/>
              <a:gd name="T18" fmla="*/ 1716 w 11898"/>
              <a:gd name="T19" fmla="*/ 11934 h 11934"/>
              <a:gd name="T20" fmla="*/ 0 w 11898"/>
              <a:gd name="T21" fmla="*/ 8374 h 11934"/>
              <a:gd name="T22" fmla="*/ 4815 w 11898"/>
              <a:gd name="T23" fmla="*/ 6659 h 11934"/>
              <a:gd name="T24" fmla="*/ 5294 w 11898"/>
              <a:gd name="T25" fmla="*/ 7065 h 11934"/>
              <a:gd name="T26" fmla="*/ 3560 w 11898"/>
              <a:gd name="T27" fmla="*/ 11934 h 11934"/>
              <a:gd name="T28" fmla="*/ 738 w 11898"/>
              <a:gd name="T29" fmla="*/ 8356 h 11934"/>
              <a:gd name="T30" fmla="*/ 1716 w 11898"/>
              <a:gd name="T31" fmla="*/ 11178 h 11934"/>
              <a:gd name="T32" fmla="*/ 4538 w 11898"/>
              <a:gd name="T33" fmla="*/ 10201 h 11934"/>
              <a:gd name="T34" fmla="*/ 1716 w 11898"/>
              <a:gd name="T35" fmla="*/ 7378 h 11934"/>
              <a:gd name="T36" fmla="*/ 1624 w 11898"/>
              <a:gd name="T37" fmla="*/ 5312 h 11934"/>
              <a:gd name="T38" fmla="*/ 0 w 11898"/>
              <a:gd name="T39" fmla="*/ 1642 h 11934"/>
              <a:gd name="T40" fmla="*/ 3671 w 11898"/>
              <a:gd name="T41" fmla="*/ 18 h 11934"/>
              <a:gd name="T42" fmla="*/ 5294 w 11898"/>
              <a:gd name="T43" fmla="*/ 4907 h 11934"/>
              <a:gd name="T44" fmla="*/ 4815 w 11898"/>
              <a:gd name="T45" fmla="*/ 5312 h 11934"/>
              <a:gd name="T46" fmla="*/ 720 w 11898"/>
              <a:gd name="T47" fmla="*/ 1623 h 11934"/>
              <a:gd name="T48" fmla="*/ 1605 w 11898"/>
              <a:gd name="T49" fmla="*/ 4575 h 11934"/>
              <a:gd name="T50" fmla="*/ 4538 w 11898"/>
              <a:gd name="T51" fmla="*/ 1642 h 11934"/>
              <a:gd name="T52" fmla="*/ 1605 w 11898"/>
              <a:gd name="T53" fmla="*/ 756 h 11934"/>
              <a:gd name="T54" fmla="*/ 10219 w 11898"/>
              <a:gd name="T55" fmla="*/ 5312 h 11934"/>
              <a:gd name="T56" fmla="*/ 6899 w 11898"/>
              <a:gd name="T57" fmla="*/ 5275 h 11934"/>
              <a:gd name="T58" fmla="*/ 6586 w 11898"/>
              <a:gd name="T59" fmla="*/ 1679 h 11934"/>
              <a:gd name="T60" fmla="*/ 10219 w 11898"/>
              <a:gd name="T61" fmla="*/ 0 h 11934"/>
              <a:gd name="T62" fmla="*/ 11898 w 11898"/>
              <a:gd name="T63" fmla="*/ 3634 h 11934"/>
              <a:gd name="T64" fmla="*/ 7323 w 11898"/>
              <a:gd name="T65" fmla="*/ 4574 h 11934"/>
              <a:gd name="T66" fmla="*/ 11142 w 11898"/>
              <a:gd name="T67" fmla="*/ 3634 h 11934"/>
              <a:gd name="T68" fmla="*/ 10201 w 11898"/>
              <a:gd name="T69" fmla="*/ 738 h 11934"/>
              <a:gd name="T70" fmla="*/ 7305 w 11898"/>
              <a:gd name="T71" fmla="*/ 1678 h 11934"/>
              <a:gd name="T72" fmla="*/ 7323 w 11898"/>
              <a:gd name="T73" fmla="*/ 4574 h 1193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</a:cxnLst>
            <a:rect l="0" t="0" r="r" b="b"/>
            <a:pathLst>
              <a:path w="11898" h="11934">
                <a:moveTo>
                  <a:pt x="10238" y="11934"/>
                </a:moveTo>
                <a:lnTo>
                  <a:pt x="8264" y="11934"/>
                </a:lnTo>
                <a:cubicBezTo>
                  <a:pt x="7342" y="11934"/>
                  <a:pt x="6604" y="11197"/>
                  <a:pt x="6604" y="10274"/>
                </a:cubicBezTo>
                <a:lnTo>
                  <a:pt x="6604" y="7046"/>
                </a:lnTo>
                <a:cubicBezTo>
                  <a:pt x="6604" y="6862"/>
                  <a:pt x="6733" y="6714"/>
                  <a:pt x="6918" y="6677"/>
                </a:cubicBezTo>
                <a:cubicBezTo>
                  <a:pt x="6973" y="6659"/>
                  <a:pt x="7028" y="6641"/>
                  <a:pt x="7084" y="6641"/>
                </a:cubicBezTo>
                <a:lnTo>
                  <a:pt x="10238" y="6641"/>
                </a:lnTo>
                <a:cubicBezTo>
                  <a:pt x="11160" y="6641"/>
                  <a:pt x="11898" y="7378"/>
                  <a:pt x="11898" y="8301"/>
                </a:cubicBezTo>
                <a:lnTo>
                  <a:pt x="11898" y="10274"/>
                </a:lnTo>
                <a:cubicBezTo>
                  <a:pt x="11879" y="11178"/>
                  <a:pt x="11142" y="11934"/>
                  <a:pt x="10238" y="11934"/>
                </a:cubicBezTo>
                <a:close/>
                <a:moveTo>
                  <a:pt x="7323" y="7378"/>
                </a:moveTo>
                <a:lnTo>
                  <a:pt x="7323" y="10274"/>
                </a:lnTo>
                <a:cubicBezTo>
                  <a:pt x="7323" y="10772"/>
                  <a:pt x="7729" y="11197"/>
                  <a:pt x="8246" y="11197"/>
                </a:cubicBezTo>
                <a:lnTo>
                  <a:pt x="10219" y="11197"/>
                </a:lnTo>
                <a:cubicBezTo>
                  <a:pt x="10717" y="11197"/>
                  <a:pt x="11142" y="10791"/>
                  <a:pt x="11142" y="10274"/>
                </a:cubicBezTo>
                <a:lnTo>
                  <a:pt x="11142" y="8301"/>
                </a:lnTo>
                <a:cubicBezTo>
                  <a:pt x="11142" y="7803"/>
                  <a:pt x="10736" y="7378"/>
                  <a:pt x="10219" y="7378"/>
                </a:cubicBezTo>
                <a:lnTo>
                  <a:pt x="7323" y="7378"/>
                </a:lnTo>
                <a:close/>
                <a:moveTo>
                  <a:pt x="3560" y="11934"/>
                </a:moveTo>
                <a:lnTo>
                  <a:pt x="1716" y="11934"/>
                </a:lnTo>
                <a:cubicBezTo>
                  <a:pt x="757" y="11934"/>
                  <a:pt x="0" y="11160"/>
                  <a:pt x="0" y="10219"/>
                </a:cubicBezTo>
                <a:lnTo>
                  <a:pt x="0" y="8374"/>
                </a:lnTo>
                <a:cubicBezTo>
                  <a:pt x="0" y="7415"/>
                  <a:pt x="775" y="6659"/>
                  <a:pt x="1716" y="6659"/>
                </a:cubicBezTo>
                <a:lnTo>
                  <a:pt x="4815" y="6659"/>
                </a:lnTo>
                <a:cubicBezTo>
                  <a:pt x="4870" y="6659"/>
                  <a:pt x="4925" y="6677"/>
                  <a:pt x="4981" y="6696"/>
                </a:cubicBezTo>
                <a:cubicBezTo>
                  <a:pt x="5165" y="6714"/>
                  <a:pt x="5294" y="6880"/>
                  <a:pt x="5294" y="7065"/>
                </a:cubicBezTo>
                <a:lnTo>
                  <a:pt x="5294" y="10237"/>
                </a:lnTo>
                <a:cubicBezTo>
                  <a:pt x="5294" y="11160"/>
                  <a:pt x="4519" y="11934"/>
                  <a:pt x="3560" y="11934"/>
                </a:cubicBezTo>
                <a:close/>
                <a:moveTo>
                  <a:pt x="1716" y="7378"/>
                </a:moveTo>
                <a:cubicBezTo>
                  <a:pt x="1181" y="7378"/>
                  <a:pt x="738" y="7821"/>
                  <a:pt x="738" y="8356"/>
                </a:cubicBezTo>
                <a:lnTo>
                  <a:pt x="738" y="10201"/>
                </a:lnTo>
                <a:cubicBezTo>
                  <a:pt x="738" y="10754"/>
                  <a:pt x="1181" y="11178"/>
                  <a:pt x="1716" y="11178"/>
                </a:cubicBezTo>
                <a:lnTo>
                  <a:pt x="3560" y="11178"/>
                </a:lnTo>
                <a:cubicBezTo>
                  <a:pt x="4095" y="11178"/>
                  <a:pt x="4538" y="10736"/>
                  <a:pt x="4538" y="10201"/>
                </a:cubicBezTo>
                <a:lnTo>
                  <a:pt x="4538" y="7378"/>
                </a:lnTo>
                <a:lnTo>
                  <a:pt x="1716" y="7378"/>
                </a:lnTo>
                <a:close/>
                <a:moveTo>
                  <a:pt x="4815" y="5312"/>
                </a:moveTo>
                <a:lnTo>
                  <a:pt x="1624" y="5312"/>
                </a:lnTo>
                <a:cubicBezTo>
                  <a:pt x="720" y="5312"/>
                  <a:pt x="0" y="4593"/>
                  <a:pt x="0" y="3689"/>
                </a:cubicBezTo>
                <a:lnTo>
                  <a:pt x="0" y="1642"/>
                </a:lnTo>
                <a:cubicBezTo>
                  <a:pt x="0" y="738"/>
                  <a:pt x="720" y="18"/>
                  <a:pt x="1624" y="18"/>
                </a:cubicBezTo>
                <a:lnTo>
                  <a:pt x="3671" y="18"/>
                </a:lnTo>
                <a:cubicBezTo>
                  <a:pt x="4575" y="18"/>
                  <a:pt x="5294" y="738"/>
                  <a:pt x="5294" y="1642"/>
                </a:cubicBezTo>
                <a:lnTo>
                  <a:pt x="5294" y="4907"/>
                </a:lnTo>
                <a:cubicBezTo>
                  <a:pt x="5294" y="5091"/>
                  <a:pt x="5165" y="5239"/>
                  <a:pt x="4981" y="5276"/>
                </a:cubicBezTo>
                <a:cubicBezTo>
                  <a:pt x="4925" y="5294"/>
                  <a:pt x="4870" y="5312"/>
                  <a:pt x="4815" y="5312"/>
                </a:cubicBezTo>
                <a:close/>
                <a:moveTo>
                  <a:pt x="1605" y="738"/>
                </a:moveTo>
                <a:cubicBezTo>
                  <a:pt x="1125" y="738"/>
                  <a:pt x="720" y="1144"/>
                  <a:pt x="720" y="1623"/>
                </a:cubicBezTo>
                <a:lnTo>
                  <a:pt x="720" y="3689"/>
                </a:lnTo>
                <a:cubicBezTo>
                  <a:pt x="720" y="4169"/>
                  <a:pt x="1125" y="4575"/>
                  <a:pt x="1605" y="4575"/>
                </a:cubicBezTo>
                <a:lnTo>
                  <a:pt x="4538" y="4575"/>
                </a:lnTo>
                <a:lnTo>
                  <a:pt x="4538" y="1642"/>
                </a:lnTo>
                <a:cubicBezTo>
                  <a:pt x="4538" y="1162"/>
                  <a:pt x="4132" y="756"/>
                  <a:pt x="3653" y="756"/>
                </a:cubicBezTo>
                <a:lnTo>
                  <a:pt x="1605" y="756"/>
                </a:lnTo>
                <a:lnTo>
                  <a:pt x="1605" y="738"/>
                </a:lnTo>
                <a:close/>
                <a:moveTo>
                  <a:pt x="10219" y="5312"/>
                </a:moveTo>
                <a:lnTo>
                  <a:pt x="7065" y="5312"/>
                </a:lnTo>
                <a:cubicBezTo>
                  <a:pt x="7010" y="5312"/>
                  <a:pt x="6954" y="5294"/>
                  <a:pt x="6899" y="5275"/>
                </a:cubicBezTo>
                <a:cubicBezTo>
                  <a:pt x="6715" y="5257"/>
                  <a:pt x="6586" y="5091"/>
                  <a:pt x="6586" y="4907"/>
                </a:cubicBezTo>
                <a:lnTo>
                  <a:pt x="6586" y="1679"/>
                </a:lnTo>
                <a:cubicBezTo>
                  <a:pt x="6586" y="756"/>
                  <a:pt x="7342" y="0"/>
                  <a:pt x="8264" y="0"/>
                </a:cubicBezTo>
                <a:lnTo>
                  <a:pt x="10219" y="0"/>
                </a:lnTo>
                <a:cubicBezTo>
                  <a:pt x="11142" y="0"/>
                  <a:pt x="11898" y="756"/>
                  <a:pt x="11898" y="1679"/>
                </a:cubicBezTo>
                <a:lnTo>
                  <a:pt x="11898" y="3634"/>
                </a:lnTo>
                <a:cubicBezTo>
                  <a:pt x="11880" y="4556"/>
                  <a:pt x="11142" y="5312"/>
                  <a:pt x="10219" y="5312"/>
                </a:cubicBezTo>
                <a:close/>
                <a:moveTo>
                  <a:pt x="7323" y="4574"/>
                </a:moveTo>
                <a:lnTo>
                  <a:pt x="10201" y="4574"/>
                </a:lnTo>
                <a:cubicBezTo>
                  <a:pt x="10717" y="4574"/>
                  <a:pt x="11142" y="4150"/>
                  <a:pt x="11142" y="3634"/>
                </a:cubicBezTo>
                <a:lnTo>
                  <a:pt x="11142" y="1678"/>
                </a:lnTo>
                <a:cubicBezTo>
                  <a:pt x="11142" y="1162"/>
                  <a:pt x="10717" y="738"/>
                  <a:pt x="10201" y="738"/>
                </a:cubicBezTo>
                <a:lnTo>
                  <a:pt x="8246" y="738"/>
                </a:lnTo>
                <a:cubicBezTo>
                  <a:pt x="7729" y="738"/>
                  <a:pt x="7305" y="1162"/>
                  <a:pt x="7305" y="1678"/>
                </a:cubicBezTo>
                <a:lnTo>
                  <a:pt x="7305" y="4574"/>
                </a:lnTo>
                <a:lnTo>
                  <a:pt x="7323" y="4574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cs typeface="+mn-ea"/>
              <a:sym typeface="+mn-lt"/>
            </a:endParaRPr>
          </a:p>
        </p:txBody>
      </p:sp>
      <p:sp>
        <p:nvSpPr>
          <p:cNvPr id="38" name="文本框 83"/>
          <p:cNvSpPr txBox="1"/>
          <p:nvPr/>
        </p:nvSpPr>
        <p:spPr>
          <a:xfrm>
            <a:off x="7161544" y="725668"/>
            <a:ext cx="4883690" cy="22006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US" altLang="zh-CN" sz="1600" b="1" dirty="0">
                <a:solidFill>
                  <a:schemeClr val="accent1"/>
                </a:solidFill>
              </a:rPr>
              <a:t>2</a:t>
            </a:r>
            <a:r>
              <a:rPr lang="zh-CN" altLang="en-US" sz="1600" b="1" dirty="0">
                <a:solidFill>
                  <a:schemeClr val="accent1"/>
                </a:solidFill>
              </a:rPr>
              <a:t>、</a:t>
            </a:r>
            <a:r>
              <a:rPr lang="zh-CN" altLang="zh-CN" sz="1600" b="1" dirty="0">
                <a:solidFill>
                  <a:schemeClr val="accent1"/>
                </a:solidFill>
              </a:rPr>
              <a:t>解码字典返回自带error_list错误字段，写入 CSV 时，字段不在表头，程序抛出异常</a:t>
            </a:r>
            <a:endParaRPr lang="en-US" altLang="zh-CN" sz="1600" b="1" dirty="0">
              <a:solidFill>
                <a:schemeClr val="accent1"/>
              </a:solidFill>
            </a:endParaRP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zh-CN" altLang="en-US" sz="1400" dirty="0"/>
              <a:t>→</a:t>
            </a:r>
            <a:r>
              <a:rPr lang="zh-CN" altLang="zh-CN" sz="1400" dirty="0"/>
              <a:t>csv.DictWriter设置参数 extrasaction="ignore"，自动忽略字典里未定义的多余字段。</a:t>
            </a:r>
            <a:endParaRPr lang="en-US" altLang="zh-CN" sz="140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endParaRPr lang="en-US" altLang="zh-CN" sz="140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US" altLang="zh-CN" sz="1600" b="1" dirty="0">
                <a:solidFill>
                  <a:schemeClr val="accent1"/>
                </a:solidFill>
              </a:rPr>
              <a:t>3</a:t>
            </a:r>
            <a:r>
              <a:rPr lang="zh-CN" altLang="en-US" sz="1600" b="1" dirty="0">
                <a:solidFill>
                  <a:schemeClr val="accent1"/>
                </a:solidFill>
              </a:rPr>
              <a:t>、</a:t>
            </a:r>
            <a:r>
              <a:rPr lang="zh-CN" altLang="zh-CN" sz="1600" b="1" dirty="0">
                <a:solidFill>
                  <a:schemeClr val="accent1"/>
                </a:solidFill>
              </a:rPr>
              <a:t>timestamp 为空的记录混入分组，排序逻辑错乱→</a:t>
            </a:r>
            <a:r>
              <a:rPr lang="zh-CN" altLang="zh-CN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增加前置过滤，时间戳为空的记录不进入 build_tracks 航迹构建。</a:t>
            </a:r>
            <a:endParaRPr lang="en-US" altLang="zh-CN" sz="16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E13C08CE-363B-334D-A82A-0AB5C306A6AC}"/>
              </a:ext>
            </a:extLst>
          </p:cNvPr>
          <p:cNvSpPr txBox="1"/>
          <p:nvPr/>
        </p:nvSpPr>
        <p:spPr>
          <a:xfrm>
            <a:off x="191344" y="2745433"/>
            <a:ext cx="6094902" cy="10218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zh-CN" altLang="zh-CN" sz="1400" dirty="0"/>
              <a:t>生成每条记录的往返比较行</a:t>
            </a:r>
          </a:p>
          <a:p>
            <a:pPr>
              <a:lnSpc>
                <a:spcPct val="150000"/>
              </a:lnSpc>
              <a:buNone/>
            </a:pPr>
            <a:r>
              <a:rPr lang="zh-CN" altLang="zh-CN" sz="1400" dirty="0"/>
              <a:t>核心函数：</a:t>
            </a:r>
            <a:r>
              <a:rPr lang="zh-CN" altLang="zh-CN" sz="1400" dirty="0">
                <a:highlight>
                  <a:srgbClr val="FFFF00"/>
                </a:highlight>
              </a:rPr>
              <a:t>_roundtrip_rows()</a:t>
            </a:r>
            <a:br>
              <a:rPr lang="en-US" altLang="zh-CN" sz="1400" dirty="0"/>
            </a:br>
            <a:endParaRPr lang="zh-CN" altLang="zh-CN" sz="1400" dirty="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46AE2642-4414-5B06-D2CB-245177328EB7}"/>
              </a:ext>
            </a:extLst>
          </p:cNvPr>
          <p:cNvSpPr txBox="1"/>
          <p:nvPr/>
        </p:nvSpPr>
        <p:spPr>
          <a:xfrm>
            <a:off x="307817" y="3608510"/>
            <a:ext cx="420630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zh-CN" altLang="zh-CN" sz="1400" dirty="0">
                <a:latin typeface="+mn-lt"/>
              </a:rPr>
              <a:t>绝对误差 = |编码前源值 - 解码后恢复值|</a:t>
            </a:r>
            <a:endParaRPr lang="zh-CN" altLang="zh-CN" sz="1400" dirty="0">
              <a:latin typeface="Courier New" panose="02070309020205020404" pitchFamily="49" charset="0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5CA1E4B2-94D8-EAFF-556C-B097DA032FD3}"/>
              </a:ext>
            </a:extLst>
          </p:cNvPr>
          <p:cNvSpPr txBox="1"/>
          <p:nvPr/>
        </p:nvSpPr>
        <p:spPr>
          <a:xfrm>
            <a:off x="330665" y="3873646"/>
            <a:ext cx="609490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/>
              <a:t>绝对误差 &lt;= 一个量化单位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A67CD3AF-7EAC-B5F4-2DD7-9D7BFD70D37D}"/>
              </a:ext>
            </a:extLst>
          </p:cNvPr>
          <p:cNvSpPr txBox="1"/>
          <p:nvPr/>
        </p:nvSpPr>
        <p:spPr>
          <a:xfrm>
            <a:off x="-25507" y="8376595"/>
            <a:ext cx="60949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CN" altLang="zh-CN" dirty="0"/>
              <a:t>最终生成：roundtrip_report.csv</a:t>
            </a:r>
          </a:p>
        </p:txBody>
      </p:sp>
      <p:graphicFrame>
        <p:nvGraphicFramePr>
          <p:cNvPr id="21" name="表格 20">
            <a:extLst>
              <a:ext uri="{FF2B5EF4-FFF2-40B4-BE49-F238E27FC236}">
                <a16:creationId xmlns:a16="http://schemas.microsoft.com/office/drawing/2014/main" id="{C8A4EE4A-3F80-C7FF-C1F0-D2C775C49B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7077674"/>
              </p:ext>
            </p:extLst>
          </p:nvPr>
        </p:nvGraphicFramePr>
        <p:xfrm>
          <a:off x="4250332" y="1415453"/>
          <a:ext cx="2861945" cy="292016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34040">
                  <a:extLst>
                    <a:ext uri="{9D8B030D-6E8A-4147-A177-3AD203B41FA5}">
                      <a16:colId xmlns:a16="http://schemas.microsoft.com/office/drawing/2014/main" val="2699923691"/>
                    </a:ext>
                  </a:extLst>
                </a:gridCol>
                <a:gridCol w="1281697">
                  <a:extLst>
                    <a:ext uri="{9D8B030D-6E8A-4147-A177-3AD203B41FA5}">
                      <a16:colId xmlns:a16="http://schemas.microsoft.com/office/drawing/2014/main" val="662521552"/>
                    </a:ext>
                  </a:extLst>
                </a:gridCol>
                <a:gridCol w="1046208">
                  <a:extLst>
                    <a:ext uri="{9D8B030D-6E8A-4147-A177-3AD203B41FA5}">
                      <a16:colId xmlns:a16="http://schemas.microsoft.com/office/drawing/2014/main" val="4012646000"/>
                    </a:ext>
                  </a:extLst>
                </a:gridCol>
              </a:tblGrid>
              <a:tr h="2409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100"/>
                        <a:t>字段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100" dirty="0"/>
                        <a:t>编码方式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100" dirty="0"/>
                        <a:t>容差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23605546"/>
                  </a:ext>
                </a:extLst>
              </a:tr>
              <a:tr h="3443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100"/>
                        <a:t>纬度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100" dirty="0"/>
                        <a:t>映射到 0～2²²-1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100" dirty="0"/>
                        <a:t>180/(2²²-1) 度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58452159"/>
                  </a:ext>
                </a:extLst>
              </a:tr>
              <a:tr h="3443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100" dirty="0"/>
                        <a:t>经度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100" dirty="0"/>
                        <a:t>映射到 0～2²²-1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100" dirty="0"/>
                        <a:t>360/(2²²-1) 度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4711601"/>
                  </a:ext>
                </a:extLst>
              </a:tr>
              <a:tr h="3443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100"/>
                        <a:t>高度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100" dirty="0"/>
                        <a:t>1米一个整数单位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100" dirty="0"/>
                        <a:t>1 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59250968"/>
                  </a:ext>
                </a:extLst>
              </a:tr>
              <a:tr h="39447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100"/>
                        <a:t>速度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100"/>
                        <a:t>0.1米/秒一个整数单位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100"/>
                        <a:t>0.1 m/s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76104145"/>
                  </a:ext>
                </a:extLst>
              </a:tr>
              <a:tr h="39447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100"/>
                        <a:t>航向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100"/>
                        <a:t>0.01度一个整数单位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100" dirty="0"/>
                        <a:t>0.01°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31731975"/>
                  </a:ext>
                </a:extLst>
              </a:tr>
              <a:tr h="4303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100"/>
                        <a:t>垂直速度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100" dirty="0"/>
                        <a:t>0.01米/秒一个整数单位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100" dirty="0"/>
                        <a:t>0.01 m/s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63028575"/>
                  </a:ext>
                </a:extLst>
              </a:tr>
              <a:tr h="3443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100"/>
                        <a:t>呼号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100"/>
                        <a:t>ASCII文本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100" dirty="0"/>
                        <a:t>必须完全相等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75382121"/>
                  </a:ext>
                </a:extLst>
              </a:tr>
            </a:tbl>
          </a:graphicData>
        </a:graphic>
      </p:graphicFrame>
      <p:sp>
        <p:nvSpPr>
          <p:cNvPr id="22" name="文本框 21">
            <a:extLst>
              <a:ext uri="{FF2B5EF4-FFF2-40B4-BE49-F238E27FC236}">
                <a16:creationId xmlns:a16="http://schemas.microsoft.com/office/drawing/2014/main" id="{6209DFAB-4FE1-0700-F147-B23F4506BECA}"/>
              </a:ext>
            </a:extLst>
          </p:cNvPr>
          <p:cNvSpPr txBox="1"/>
          <p:nvPr/>
        </p:nvSpPr>
        <p:spPr>
          <a:xfrm>
            <a:off x="263352" y="1759654"/>
            <a:ext cx="4295238" cy="8463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zh-CN" altLang="zh-CN" sz="14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实验手册规定：</a:t>
            </a:r>
          </a:p>
          <a:p>
            <a:pPr>
              <a:buNone/>
            </a:pPr>
            <a:r>
              <a:rPr lang="zh-CN" altLang="zh-CN" sz="14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有效字段的往返误差原则上不超过一个量化单位。</a:t>
            </a:r>
          </a:p>
          <a:p>
            <a:pPr>
              <a:buNone/>
            </a:pPr>
            <a:r>
              <a:rPr lang="zh-CN" altLang="zh-CN" sz="1400" dirty="0"/>
              <a:t>因此当前代码将“一个量化单位”作为容差。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C764184E-D162-48B4-B22E-514B8355AFA8}"/>
              </a:ext>
            </a:extLst>
          </p:cNvPr>
          <p:cNvSpPr txBox="1"/>
          <p:nvPr/>
        </p:nvSpPr>
        <p:spPr>
          <a:xfrm>
            <a:off x="-21578" y="1408622"/>
            <a:ext cx="611757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altLang="zh-CN" sz="1600" b="1" dirty="0">
                <a:solidFill>
                  <a:schemeClr val="accent1"/>
                </a:solidFill>
              </a:rPr>
              <a:t>1.</a:t>
            </a:r>
            <a:r>
              <a:rPr lang="zh-CN" altLang="zh-CN" sz="1600" b="1" dirty="0">
                <a:solidFill>
                  <a:schemeClr val="accent1"/>
                </a:solidFill>
              </a:rPr>
              <a:t>定点编码 / 解码，会引入少量量化往返误差</a:t>
            </a: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FD612B07-B090-CB0C-E4C0-FA394251FF76}"/>
              </a:ext>
            </a:extLst>
          </p:cNvPr>
          <p:cNvSpPr txBox="1"/>
          <p:nvPr/>
        </p:nvSpPr>
        <p:spPr>
          <a:xfrm>
            <a:off x="149758" y="4345812"/>
            <a:ext cx="645671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CN" altLang="zh-CN" sz="1200" dirty="0"/>
              <a:t>最终生成：</a:t>
            </a:r>
            <a:r>
              <a:rPr lang="zh-CN" altLang="zh-CN" sz="1200" dirty="0">
                <a:highlight>
                  <a:srgbClr val="FFFF00"/>
                </a:highlight>
              </a:rPr>
              <a:t>roundtrip_report.csv</a:t>
            </a:r>
            <a:r>
              <a:rPr lang="en-US" altLang="zh-CN" sz="1200" dirty="0">
                <a:highlight>
                  <a:srgbClr val="FFFF00"/>
                </a:highlight>
              </a:rPr>
              <a:t>,</a:t>
            </a:r>
            <a:r>
              <a:rPr lang="zh-CN" altLang="en-US" sz="1200" dirty="0"/>
              <a:t>所有结果均符合条件</a:t>
            </a:r>
            <a:endParaRPr lang="zh-CN" altLang="zh-CN" sz="1200" dirty="0"/>
          </a:p>
        </p:txBody>
      </p:sp>
      <p:pic>
        <p:nvPicPr>
          <p:cNvPr id="27" name="图片 26">
            <a:extLst>
              <a:ext uri="{FF2B5EF4-FFF2-40B4-BE49-F238E27FC236}">
                <a16:creationId xmlns:a16="http://schemas.microsoft.com/office/drawing/2014/main" id="{9C49C6C2-17E5-B444-D047-00EDF05C9F1B}"/>
              </a:ext>
            </a:extLst>
          </p:cNvPr>
          <p:cNvPicPr>
            <a:picLocks/>
          </p:cNvPicPr>
          <p:nvPr/>
        </p:nvPicPr>
        <p:blipFill>
          <a:blip r:embed="rId3"/>
          <a:srcRect l="4104" t="4208" b="6293"/>
          <a:stretch>
            <a:fillRect/>
          </a:stretch>
        </p:blipFill>
        <p:spPr>
          <a:xfrm>
            <a:off x="329850" y="4630393"/>
            <a:ext cx="3534060" cy="2170603"/>
          </a:xfrm>
          <a:prstGeom prst="rect">
            <a:avLst/>
          </a:prstGeom>
        </p:spPr>
      </p:pic>
      <p:sp>
        <p:nvSpPr>
          <p:cNvPr id="28" name="矩形 27">
            <a:extLst>
              <a:ext uri="{FF2B5EF4-FFF2-40B4-BE49-F238E27FC236}">
                <a16:creationId xmlns:a16="http://schemas.microsoft.com/office/drawing/2014/main" id="{9935C459-583B-B6BE-55B9-100545C6772D}"/>
              </a:ext>
            </a:extLst>
          </p:cNvPr>
          <p:cNvSpPr/>
          <p:nvPr/>
        </p:nvSpPr>
        <p:spPr>
          <a:xfrm>
            <a:off x="3587439" y="4662214"/>
            <a:ext cx="269538" cy="221143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F8A6637F-3259-02AA-FFFA-06BE604B3A47}"/>
              </a:ext>
            </a:extLst>
          </p:cNvPr>
          <p:cNvSpPr txBox="1"/>
          <p:nvPr/>
        </p:nvSpPr>
        <p:spPr>
          <a:xfrm>
            <a:off x="4151784" y="4589043"/>
            <a:ext cx="3638667" cy="14003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US" altLang="zh-CN" sz="1600" b="1" dirty="0">
                <a:solidFill>
                  <a:schemeClr val="accent1"/>
                </a:solidFill>
              </a:rPr>
              <a:t>4</a:t>
            </a:r>
            <a:r>
              <a:rPr lang="zh-CN" altLang="en-US" sz="1600" b="1" dirty="0">
                <a:solidFill>
                  <a:schemeClr val="accent1"/>
                </a:solidFill>
              </a:rPr>
              <a:t>、</a:t>
            </a:r>
            <a:r>
              <a:rPr lang="zh-CN" altLang="zh-CN" sz="1600" b="1" dirty="0">
                <a:solidFill>
                  <a:schemeClr val="accent1"/>
                </a:solidFill>
              </a:rPr>
              <a:t> CSV 读取布尔字段得到字符串"True"/"False"，直接int()转换抛出 ValueErro</a:t>
            </a:r>
            <a:r>
              <a:rPr lang="en-US" altLang="zh-CN" sz="1600" b="1" dirty="0">
                <a:solidFill>
                  <a:schemeClr val="accent1"/>
                </a:solidFill>
              </a:rPr>
              <a:t>r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zh-CN" altLang="zh-CN" sz="1600" dirty="0"/>
              <a:t>→增加布尔兼容逻辑，先转小写字符串判断文本内容，不再强制 int 转换。</a:t>
            </a:r>
            <a:endParaRPr lang="en-US" altLang="zh-CN" sz="1600" dirty="0"/>
          </a:p>
        </p:txBody>
      </p:sp>
      <p:pic>
        <p:nvPicPr>
          <p:cNvPr id="43" name="图片 42">
            <a:extLst>
              <a:ext uri="{FF2B5EF4-FFF2-40B4-BE49-F238E27FC236}">
                <a16:creationId xmlns:a16="http://schemas.microsoft.com/office/drawing/2014/main" id="{21366D07-6F19-CFD5-FE19-CD8B52600A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5936" y="4554612"/>
            <a:ext cx="3378935" cy="1597889"/>
          </a:xfrm>
          <a:prstGeom prst="rect">
            <a:avLst/>
          </a:prstGeom>
        </p:spPr>
      </p:pic>
      <p:pic>
        <p:nvPicPr>
          <p:cNvPr id="48" name="图片 47">
            <a:extLst>
              <a:ext uri="{FF2B5EF4-FFF2-40B4-BE49-F238E27FC236}">
                <a16:creationId xmlns:a16="http://schemas.microsoft.com/office/drawing/2014/main" id="{04E2063E-F7E3-897F-E5D6-CE82184099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54097" y="2891284"/>
            <a:ext cx="3431097" cy="1344713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Object"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组合 38"/>
          <p:cNvGrpSpPr/>
          <p:nvPr/>
        </p:nvGrpSpPr>
        <p:grpSpPr>
          <a:xfrm>
            <a:off x="0" y="1"/>
            <a:ext cx="12192000" cy="711200"/>
            <a:chOff x="0" y="1"/>
            <a:chExt cx="12192000" cy="711200"/>
          </a:xfrm>
        </p:grpSpPr>
        <p:sp>
          <p:nvSpPr>
            <p:cNvPr id="40" name="矩形 39"/>
            <p:cNvSpPr/>
            <p:nvPr/>
          </p:nvSpPr>
          <p:spPr>
            <a:xfrm>
              <a:off x="0" y="1"/>
              <a:ext cx="12192000" cy="650874"/>
            </a:xfrm>
            <a:prstGeom prst="rect">
              <a:avLst/>
            </a:prstGeom>
            <a:solidFill>
              <a:srgbClr val="0E41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41" name="组合 40"/>
            <p:cNvGrpSpPr/>
            <p:nvPr/>
          </p:nvGrpSpPr>
          <p:grpSpPr>
            <a:xfrm>
              <a:off x="5320779" y="159473"/>
              <a:ext cx="6318336" cy="368300"/>
              <a:chOff x="4977879" y="299173"/>
              <a:chExt cx="6318336" cy="368300"/>
            </a:xfrm>
          </p:grpSpPr>
          <p:sp>
            <p:nvSpPr>
              <p:cNvPr id="44" name="文本框 43"/>
              <p:cNvSpPr txBox="1"/>
              <p:nvPr/>
            </p:nvSpPr>
            <p:spPr>
              <a:xfrm>
                <a:off x="5223501" y="299173"/>
                <a:ext cx="496570" cy="3683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solidFill>
                      <a:schemeClr val="bg1"/>
                    </a:solidFill>
                    <a:latin typeface="思源黑体 CN Regular" panose="020B0500000000000000" pitchFamily="34" charset="-122"/>
                    <a:ea typeface="思源黑体 CN Regular" panose="020B0500000000000000" pitchFamily="34" charset="-122"/>
                  </a:rPr>
                  <a:t>M1</a:t>
                </a:r>
              </a:p>
            </p:txBody>
          </p:sp>
          <p:sp>
            <p:nvSpPr>
              <p:cNvPr id="45" name="文本框 44"/>
              <p:cNvSpPr txBox="1"/>
              <p:nvPr/>
            </p:nvSpPr>
            <p:spPr>
              <a:xfrm>
                <a:off x="6950981" y="299173"/>
                <a:ext cx="496570" cy="3683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solidFill>
                      <a:schemeClr val="bg1"/>
                    </a:solidFill>
                    <a:latin typeface="思源黑体 CN Regular" panose="020B0500000000000000" pitchFamily="34" charset="-122"/>
                    <a:ea typeface="思源黑体 CN Regular" panose="020B0500000000000000" pitchFamily="34" charset="-122"/>
                  </a:rPr>
                  <a:t>M2</a:t>
                </a:r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8678461" y="299173"/>
                <a:ext cx="496570" cy="3683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solidFill>
                      <a:schemeClr val="bg1"/>
                    </a:solidFill>
                    <a:latin typeface="思源黑体 CN Regular" panose="020B0500000000000000" pitchFamily="34" charset="-122"/>
                    <a:ea typeface="思源黑体 CN Regular" panose="020B0500000000000000" pitchFamily="34" charset="-122"/>
                  </a:rPr>
                  <a:t>M3</a:t>
                </a:r>
              </a:p>
            </p:txBody>
          </p:sp>
          <p:sp>
            <p:nvSpPr>
              <p:cNvPr id="2" name="文本框 1"/>
              <p:cNvSpPr txBox="1"/>
              <p:nvPr/>
            </p:nvSpPr>
            <p:spPr>
              <a:xfrm>
                <a:off x="10405945" y="299173"/>
                <a:ext cx="890270" cy="3683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solidFill>
                      <a:schemeClr val="bg1"/>
                    </a:solidFill>
                    <a:latin typeface="思源黑体 CN Regular" panose="020B0500000000000000" pitchFamily="34" charset="-122"/>
                    <a:ea typeface="思源黑体 CN Regular" panose="020B0500000000000000" pitchFamily="34" charset="-122"/>
                  </a:rPr>
                  <a:t>M4-M6</a:t>
                </a:r>
              </a:p>
            </p:txBody>
          </p:sp>
          <p:cxnSp>
            <p:nvCxnSpPr>
              <p:cNvPr id="4" name="直接连接符 3"/>
              <p:cNvCxnSpPr/>
              <p:nvPr/>
            </p:nvCxnSpPr>
            <p:spPr>
              <a:xfrm>
                <a:off x="6705359" y="365275"/>
                <a:ext cx="0" cy="301705"/>
              </a:xfrm>
              <a:prstGeom prst="line">
                <a:avLst/>
              </a:prstGeom>
              <a:ln w="31750"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" name="直接连接符 4"/>
              <p:cNvCxnSpPr/>
              <p:nvPr/>
            </p:nvCxnSpPr>
            <p:spPr>
              <a:xfrm>
                <a:off x="4977879" y="365275"/>
                <a:ext cx="0" cy="301705"/>
              </a:xfrm>
              <a:prstGeom prst="line">
                <a:avLst/>
              </a:prstGeom>
              <a:ln w="31750"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直接连接符 50"/>
              <p:cNvCxnSpPr/>
              <p:nvPr/>
            </p:nvCxnSpPr>
            <p:spPr>
              <a:xfrm>
                <a:off x="8432839" y="365275"/>
                <a:ext cx="0" cy="301705"/>
              </a:xfrm>
              <a:prstGeom prst="line">
                <a:avLst/>
              </a:prstGeom>
              <a:ln w="31750"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直接连接符 5"/>
              <p:cNvCxnSpPr/>
              <p:nvPr/>
            </p:nvCxnSpPr>
            <p:spPr>
              <a:xfrm>
                <a:off x="10160319" y="365275"/>
                <a:ext cx="0" cy="301705"/>
              </a:xfrm>
              <a:prstGeom prst="line">
                <a:avLst/>
              </a:prstGeom>
              <a:ln w="31750"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2" name="等腰三角形 41"/>
            <p:cNvSpPr/>
            <p:nvPr/>
          </p:nvSpPr>
          <p:spPr>
            <a:xfrm>
              <a:off x="10764882" y="561975"/>
              <a:ext cx="818588" cy="149226"/>
            </a:xfrm>
            <a:prstGeom prst="triangle">
              <a:avLst>
                <a:gd name="adj" fmla="val 50385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31" name="文本框 82"/>
          <p:cNvSpPr txBox="1"/>
          <p:nvPr/>
        </p:nvSpPr>
        <p:spPr>
          <a:xfrm>
            <a:off x="3185160" y="2997200"/>
            <a:ext cx="7146925" cy="69977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zh-CN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zh-CN" altLang="en-US" sz="4400" b="1" dirty="0">
                <a:solidFill>
                  <a:srgbClr val="4472C4"/>
                </a:solidFill>
                <a:cs typeface="+mn-ea"/>
                <a:sym typeface="+mn-lt"/>
              </a:rPr>
              <a:t>工程应用与岗位认识</a:t>
            </a: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Object"/>
      </p:transition>
    </mc:Choice>
    <mc:Fallback xmlns="">
      <p:transition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ZDA2MGQ2YzdmNTU2MGM0ODg2OGJiZjFkMDk1MzQxMGEifQ=="/>
  <p:tag name="OPCH-14AA45D5D75AB054842617C8379A485EB3A8C87E45D3617391723A6A767155E3" val="[{&quot;GradientColorId&quot;:&quot;&quot;,&quot;IsFree&quot;:true,&quot;IsGradient&quot;:false,&quot;ImagePath&quot;:&quot;&quot;,&quot;GradientColor&quot;:null,&quot;SimpleColor&quot;:&quot;#00B050&quot;},{&quot;GradientColorId&quot;:&quot;&quot;,&quot;IsFree&quot;:true,&quot;IsGradient&quot;:false,&quot;ImagePath&quot;:&quot;&quot;,&quot;GradientColor&quot;:null,&quot;SimpleColor&quot;:&quot;#000000&quot;}]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ICON" val="#400679;#400677;#400677;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ICON" val="#400679;#400677;#400677;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ICON" val="#400679;#400677;#400677;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ICON" val="#400679;#400677;#400677;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ICON" val="#400679;#400677;#400677;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sii2hdl">
      <a:majorFont>
        <a:latin typeface="Arial"/>
        <a:ea typeface="思源黑体 CN Regular"/>
        <a:cs typeface=""/>
      </a:majorFont>
      <a:minorFont>
        <a:latin typeface="Arial"/>
        <a:ea typeface="思源黑体 CN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</TotalTime>
  <Words>2267</Words>
  <Application>Microsoft Office PowerPoint</Application>
  <PresentationFormat>宽屏</PresentationFormat>
  <Paragraphs>179</Paragraphs>
  <Slides>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3" baseType="lpstr">
      <vt:lpstr>quote-cjk-patch</vt:lpstr>
      <vt:lpstr>等线</vt:lpstr>
      <vt:lpstr>思源黑体 CN Regular</vt:lpstr>
      <vt:lpstr>Arial</vt:lpstr>
      <vt:lpstr>Courier New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木卫林学术</dc:title>
  <dc:subject>木卫林</dc:subject>
  <dc:creator>滕 婷</dc:creator>
  <dc:description>木卫林学术</dc:description>
  <cp:lastModifiedBy>chajden_111@163.com</cp:lastModifiedBy>
  <cp:revision>33</cp:revision>
  <dcterms:created xsi:type="dcterms:W3CDTF">2022-05-21T02:01:00Z</dcterms:created>
  <dcterms:modified xsi:type="dcterms:W3CDTF">2026-08-28T03:39:32Z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25B0DE005A4046BCBA33519E0C7FCE72_13</vt:lpwstr>
  </property>
  <property fmtid="{D5CDD505-2E9C-101B-9397-08002B2CF9AE}" pid="3" name="KSOProductBuildVer">
    <vt:lpwstr>2052-12.1.0.28043</vt:lpwstr>
  </property>
</Properties>
</file>